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esteemed members of the evaluation committee. Today, I am presenting SpamAdapt, a research and engineering project focused on parameter-efficient domain adaptation for SMS scam detection. We investigate why standard NLP spam classifiers fail on modern transactional messages and explore how Low-Rank Adaptation (LoRA) and Weight-Decomposed Low-Rank Adaptation (DoRA) compare against traditional full fine-tuning.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fundamental issue in SMS spam filtering today is domain shift. Almost all academic benchmarks still rely on the 2011 UCI SMS dataset, where legitimate messages are mostly informal personal chats. Today, the vast majority of SMS traffic consists of automated notifications—UPI alerts, bank OTPs, and delivery updates. When models trained solely on personal chats encounter a formal telecom notification containing numbers and links, they misclassify it as spam with extreme overconfidence.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established three formal research questions to guide our experimental study. First, we evaluate whether PEFT methods like LoRA and DoRA can achieve competitive generalization compared to Full Fine-Tuning. Second, we test if conservative threshold optimization on validation data can eliminate catastrophic false positives on transactional SMS. Third, we measure the stability of adapted models under adversarial perturbations and implement an abstention policy for ambiguous inputs.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cornerstone of this research is academic transparency regarding data provenance. Rather than claiming our 220-message external benchmark consists entirely of wild real-world SMS captures, we disclose the exact provenance hierarchy: 50% are official regulatory exhibits from CERT-In and RBI advisories, 38.6% are curated enterprise templates, 6.8% are verified real-world captures, and 4.5% are contrastive pairs. Furthermore, our automated leakage audit verified that zero benchmark messages ever leaked into our training or validation sets.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exact regression case that initiated this project. When we presented this verified legitimate telecom reverification notification to the baseline v1 models, all three classified it as SPAM with over 99.8% probability. Following our domain-augmented retraining and threshold optimization in v2, all three models correctly classify it as HAM with over 96% confidence, with zero rule-based keyword hacks or hardcoded logic.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the SpamAdapt inference architecture. Input messages enter memory without persistent logging. The text is tokenized using BERT's WordPiece vocabulary and passed to the chosen model configuration. The resulting score is routed through our model-specific abstention policy rather than a naive 0.5 threshold, and rendered in our hardened Streamlit interface.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mathematical formulations. In Full Fine-Tuning, all weights update unconstrained. In LoRA, we decompose the weight delta into low-rank matrices A and B, scaling by alpha/r. DoRA goes one step further: it decomposes weights into magnitude and directional components, updating magnitude independently while applying low-rank adaptation only to direction. This mimics full fine-tuning's learning dynamics with only 18,432 additional parameters.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summarizes the parameter efficiency profile. Both LoRA and DoRA train under 0.3% of the model parameters. Most importantly for edge deployment, their checkpoints require only ~1.8 megabytes of storage compared to over 418 megabytes for full fine-tuning. This represents a 99.55% reduction in disk storage, making multi-task adapter swapping highly feasible on resource-constrained devices.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evaluating domain generalization, we had to ensure our models did not suffer from catastrophic forgetting on the original task. Here we see that on the preserved 774-sample UCI test split, all retrained v2 models maintain over 98% accuracy and over 95.4% Macro F1. This confirms that domain adaptation enhanced external coverage without damaging original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external benchmark results on 220 samples. Full Fine-Tuning v2 achieved 87.73% accuracy and 90% HAM recall. DoRA v2 achieved 77.73% and LoRA achieved 76.82%. The crucial insight here is the category-level error breakdown: all models failed heavily on legitimate promotional marketing messages (60-70% error rate). Because marketing messages use identical urgency and discount phrasing as commercial spam, a text-only classifier hits an empirical boundary. This proves why production systems must integrate telecom sender headers.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real-world deployment, binary yes/no classifications are dangerous. On Slide 11, we evaluate robustness across 40 perturbations. While casing is 100% consistent, bracketed redaction markers cause significant score shifts. To mitigate this uncertainty, we implement a three-tier abstention policy: predictions with high confidence are routed automatically, while borderline scores between tau_low and tau_high are routed to REVIEW_REQUIRED, preventing automated service lockouts.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Streamlit application demonstrates the operational capabilities of SpamAdapt. It allows real-time model switching, enforces a strict zero-persistence privacy invariant, renders clear three-tier decision banners, and includes truthful epistemic disclaimers regarding uncalibrated softmax scores.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keeping with sound engineering ethics, we clearly document our system's boundaries. A text-only model cannot distinguish legitimate discounts from scam discounts without sender metadata. Our future roadmap focuses on integrating India's TRAI Distributed Ledger Technology sender headers, adopting Indic foundation models like MuRIL, and deploying 4-bit QLoRA for on-device mobile execution.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SpamAdapt demonstrates that Parameter-Efficient Fine-Tuning can solve severe real-world domain shifts in SMS spam detection with a 99.55% reduction in checkpoint storage. All our code, frozen checkpoints, test suites, and metrics are fully verified and reproducible. Thank you very much,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914400" y="1097280"/>
            <a:ext cx="10362895" cy="4663440"/>
          </a:xfrm>
          <a:prstGeom prst="roundRect">
            <a:avLst/>
          </a:prstGeom>
          <a:solidFill>
            <a:srgbClr val="1E293B"/>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463040"/>
            <a:ext cx="9448495" cy="3931920"/>
          </a:xfrm>
          <a:prstGeom prst="rect">
            <a:avLst/>
          </a:prstGeom>
          <a:noFill/>
        </p:spPr>
        <p:txBody>
          <a:bodyPr wrap="square">
            <a:spAutoFit/>
          </a:bodyPr>
          <a:lstStyle/>
          <a:p>
            <a:pPr>
              <a:defRPr sz="1400" b="1">
                <a:solidFill>
                  <a:srgbClr val="38BDF8"/>
                </a:solidFill>
              </a:defRPr>
            </a:pPr>
            <a:r>
              <a:t>SPAMADAPT: PARAMETER-EFFICIENT DOMAIN ADAPTATION</a:t>
            </a:r>
          </a:p>
          <a:p>
            <a:pPr>
              <a:defRPr sz="2800" b="1">
                <a:solidFill>
                  <a:srgbClr val="F8FAFC"/>
                </a:solidFill>
              </a:defRPr>
            </a:pPr>
            <a:r>
              <a:t>Robust SMS Scam Detection via Full Fine-Tuning, LoRA, and DoRA</a:t>
            </a:r>
          </a:p>
          <a:p>
            <a:pPr>
              <a:defRPr sz="1600">
                <a:solidFill>
                  <a:srgbClr val="94A3B8"/>
                </a:solidFill>
              </a:defRPr>
            </a:pPr>
            <a:r>
              <a:t>Addressing Domain Shift in Modern Transactional, Banking, and Phishing Messages</a:t>
            </a:r>
          </a:p>
          <a:p>
            <a:br/>
            <a:pPr>
              <a:defRPr sz="1300">
                <a:solidFill>
                  <a:srgbClr val="E2E8F0"/>
                </a:solidFill>
              </a:defRPr>
            </a:pPr>
            <a:r>
              <a:t>[Candidate / Presenter Name Placeholder]  •  Department of Computer Science &amp; Engineering</a:t>
            </a:r>
            <a:br/>
            <a:r>
              <a:t>B.Tech / M.Tech Major Project Defense  •  Academic Year 2025–2026</a:t>
            </a:r>
            <a:br/>
            <a:r>
              <a:t>Supervised Academic Demonstration Package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SPAMADAPT RESEARCH PROJECT</a:t>
            </a:r>
          </a:p>
        </p:txBody>
      </p:sp>
      <p:sp>
        <p:nvSpPr>
          <p:cNvPr id="3" name="TextBox 2"/>
          <p:cNvSpPr txBox="1"/>
          <p:nvPr/>
        </p:nvSpPr>
        <p:spPr>
          <a:xfrm>
            <a:off x="731520" y="640080"/>
            <a:ext cx="10698480" cy="640080"/>
          </a:xfrm>
          <a:prstGeom prst="rect">
            <a:avLst/>
          </a:prstGeom>
          <a:noFill/>
        </p:spPr>
        <p:txBody>
          <a:bodyPr wrap="square">
            <a:spAutoFit/>
          </a:bodyPr>
          <a:lstStyle/>
          <a:p>
            <a:pPr>
              <a:defRPr sz="2400" b="1">
                <a:solidFill>
                  <a:srgbClr val="F8FAFC"/>
                </a:solidFill>
              </a:defRPr>
            </a:pPr>
            <a:r>
              <a:t>The Critical Problem: Domain Shift in Mobile Communications</a:t>
            </a:r>
          </a:p>
        </p:txBody>
      </p:sp>
      <p:sp>
        <p:nvSpPr>
          <p:cNvPr id="4" name="Rounded Rectangle 3"/>
          <p:cNvSpPr/>
          <p:nvPr/>
        </p:nvSpPr>
        <p:spPr>
          <a:xfrm>
            <a:off x="731520" y="146304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800" b="1">
                <a:solidFill>
                  <a:srgbClr val="F43F5E"/>
                </a:solidFill>
              </a:defRPr>
            </a:pPr>
            <a:r>
              <a:t>The Legacy Dataset Dilemma</a:t>
            </a:r>
          </a:p>
          <a:p>
            <a:pPr>
              <a:defRPr sz="1300">
                <a:solidFill>
                  <a:srgbClr val="E2E8F0"/>
                </a:solidFill>
              </a:defRPr>
            </a:pPr>
            <a:r>
              <a:t>• Traditional benchmark: 2011 UCI SMS Spam Collection (5,574 raw, ~5,160 cleaned).</a:t>
            </a:r>
          </a:p>
          <a:p>
            <a:pPr>
              <a:defRPr sz="1300">
                <a:solidFill>
                  <a:srgbClr val="E2E8F0"/>
                </a:solidFill>
              </a:defRPr>
            </a:pPr>
            <a:r>
              <a:t>• Legacy HAM messages are predominantly informal social chats ('Where are u?', 'Love u', 'See you later').</a:t>
            </a:r>
          </a:p>
          <a:p>
            <a:pPr>
              <a:defRPr sz="1300">
                <a:solidFill>
                  <a:srgbClr val="E2E8F0"/>
                </a:solidFill>
              </a:defRPr>
            </a:pPr>
            <a:r>
              <a:t>• Legacy SPAM messages are 2000s UK premium lottery and ringtone lures.</a:t>
            </a:r>
          </a:p>
          <a:p>
            <a:pPr>
              <a:defRPr sz="1300">
                <a:solidFill>
                  <a:srgbClr val="E2E8F0"/>
                </a:solidFill>
              </a:defRPr>
            </a:pPr>
            <a:r>
              <a:t>• Total absence of modern mobile ecosystem phenomena: UPI payment alerts, bank OTPs, delivery tracking, and KYC alerts.</a:t>
            </a:r>
          </a:p>
        </p:txBody>
      </p:sp>
      <p:sp>
        <p:nvSpPr>
          <p:cNvPr id="6" name="Rounded Rectangle 5"/>
          <p:cNvSpPr/>
          <p:nvPr/>
        </p:nvSpPr>
        <p:spPr>
          <a:xfrm>
            <a:off x="6217920" y="146304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sz="1800" b="1">
                <a:solidFill>
                  <a:srgbClr val="F59E0B"/>
                </a:solidFill>
              </a:defRPr>
            </a:pPr>
            <a:r>
              <a:t>Severe False Positive Crisis</a:t>
            </a:r>
          </a:p>
          <a:p>
            <a:pPr>
              <a:defRPr sz="1300">
                <a:solidFill>
                  <a:srgbClr val="E2E8F0"/>
                </a:solidFill>
              </a:defRPr>
            </a:pPr>
            <a:r>
              <a:t>• Modern legitimate notifications exhibit high lexical overlap with spam (numbers, URLs, urgent verbs).</a:t>
            </a:r>
          </a:p>
          <a:p>
            <a:pPr>
              <a:defRPr sz="1300">
                <a:solidFill>
                  <a:srgbClr val="E2E8F0"/>
                </a:solidFill>
              </a:defRPr>
            </a:pPr>
            <a:r>
              <a:t>• Empirical Baseline Failure: A genuine telecom reverification notice was classified as SPAM with 99.9% probability by standard models.</a:t>
            </a:r>
          </a:p>
          <a:p>
            <a:pPr>
              <a:defRPr sz="1300">
                <a:solidFill>
                  <a:srgbClr val="E2E8F0"/>
                </a:solidFill>
              </a:defRPr>
            </a:pPr>
            <a:r>
              <a:t>• Blocking legitimate bank OTPs or telecom notices causes immediate user lockout and severe service disruption.</a:t>
            </a:r>
          </a:p>
          <a:p>
            <a:pPr>
              <a:defRPr sz="1300">
                <a:solidFill>
                  <a:srgbClr val="E2E8F0"/>
                </a:solidFill>
              </a:defRPr>
            </a:pPr>
            <a:r>
              <a:t>• Core Motivation: Adapt models to recognize structured enterprise notifications without losing phishing detection capability.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SPAMADAPT RESEARCH PROJECT</a:t>
            </a:r>
          </a:p>
        </p:txBody>
      </p:sp>
      <p:sp>
        <p:nvSpPr>
          <p:cNvPr id="3" name="TextBox 2"/>
          <p:cNvSpPr txBox="1"/>
          <p:nvPr/>
        </p:nvSpPr>
        <p:spPr>
          <a:xfrm>
            <a:off x="731520" y="640080"/>
            <a:ext cx="10698480" cy="640080"/>
          </a:xfrm>
          <a:prstGeom prst="rect">
            <a:avLst/>
          </a:prstGeom>
          <a:noFill/>
        </p:spPr>
        <p:txBody>
          <a:bodyPr wrap="square">
            <a:spAutoFit/>
          </a:bodyPr>
          <a:lstStyle/>
          <a:p>
            <a:pPr>
              <a:defRPr sz="2400" b="1">
                <a:solidFill>
                  <a:srgbClr val="F8FAFC"/>
                </a:solidFill>
              </a:defRPr>
            </a:pPr>
            <a:r>
              <a:t>Research Objectives &amp; Core Scientific Questions</a:t>
            </a:r>
          </a:p>
        </p:txBody>
      </p:sp>
      <p:sp>
        <p:nvSpPr>
          <p:cNvPr id="4" name="Rounded Rectangle 3"/>
          <p:cNvSpPr/>
          <p:nvPr/>
        </p:nvSpPr>
        <p:spPr>
          <a:xfrm>
            <a:off x="731520" y="1463040"/>
            <a:ext cx="10698480" cy="1417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10149840" cy="1143000"/>
          </a:xfrm>
          <a:prstGeom prst="rect">
            <a:avLst/>
          </a:prstGeom>
          <a:noFill/>
        </p:spPr>
        <p:txBody>
          <a:bodyPr wrap="square">
            <a:spAutoFit/>
          </a:bodyPr>
          <a:lstStyle/>
          <a:p>
            <a:pPr>
              <a:defRPr sz="1600" b="1">
                <a:solidFill>
                  <a:srgbClr val="38BDF8"/>
                </a:solidFill>
              </a:defRPr>
            </a:pPr>
            <a:r>
              <a:t>RQ1: PEFT vs Full Fine-Tuning</a:t>
            </a:r>
          </a:p>
          <a:p>
            <a:pPr>
              <a:defRPr sz="1300">
                <a:solidFill>
                  <a:srgbClr val="E2E8F0"/>
                </a:solidFill>
              </a:defRPr>
            </a:pPr>
            <a:r>
              <a:t>Can Low-Rank Adaptation (LoRA) and Weight-Decomposed Low-Rank Adaptation (DoRA) match full fine-tuning performance on modern out-of-domain SMS while training under 0.3% of parameters?</a:t>
            </a:r>
          </a:p>
        </p:txBody>
      </p:sp>
      <p:sp>
        <p:nvSpPr>
          <p:cNvPr id="6" name="Rounded Rectangle 5"/>
          <p:cNvSpPr/>
          <p:nvPr/>
        </p:nvSpPr>
        <p:spPr>
          <a:xfrm>
            <a:off x="731520" y="3063240"/>
            <a:ext cx="10698480" cy="1417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200400"/>
            <a:ext cx="10149840" cy="1143000"/>
          </a:xfrm>
          <a:prstGeom prst="rect">
            <a:avLst/>
          </a:prstGeom>
          <a:noFill/>
        </p:spPr>
        <p:txBody>
          <a:bodyPr wrap="square">
            <a:spAutoFit/>
          </a:bodyPr>
          <a:lstStyle/>
          <a:p>
            <a:pPr>
              <a:defRPr sz="1600" b="1">
                <a:solidFill>
                  <a:srgbClr val="818CF8"/>
                </a:solidFill>
              </a:defRPr>
            </a:pPr>
            <a:r>
              <a:t>RQ2: False Positive Mitigation</a:t>
            </a:r>
          </a:p>
          <a:p>
            <a:pPr>
              <a:defRPr sz="1300">
                <a:solidFill>
                  <a:srgbClr val="E2E8F0"/>
                </a:solidFill>
              </a:defRPr>
            </a:pPr>
            <a:r>
              <a:t>Can targeted domain augmentation and threshold optimization recover legitimate transactional notifications without sacrificing recall on sophisticated KYC and UPI phishing scams?</a:t>
            </a:r>
          </a:p>
        </p:txBody>
      </p:sp>
      <p:sp>
        <p:nvSpPr>
          <p:cNvPr id="8" name="Rounded Rectangle 7"/>
          <p:cNvSpPr/>
          <p:nvPr/>
        </p:nvSpPr>
        <p:spPr>
          <a:xfrm>
            <a:off x="731520" y="4663440"/>
            <a:ext cx="10698480" cy="1417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800600"/>
            <a:ext cx="10149840" cy="1143000"/>
          </a:xfrm>
          <a:prstGeom prst="rect">
            <a:avLst/>
          </a:prstGeom>
          <a:noFill/>
        </p:spPr>
        <p:txBody>
          <a:bodyPr wrap="square">
            <a:spAutoFit/>
          </a:bodyPr>
          <a:lstStyle/>
          <a:p>
            <a:pPr>
              <a:defRPr sz="1600" b="1">
                <a:solidFill>
                  <a:srgbClr val="34D399"/>
                </a:solidFill>
              </a:defRPr>
            </a:pPr>
            <a:r>
              <a:t>RQ3: Adversarial Robustness &amp; Abstention</a:t>
            </a:r>
          </a:p>
          <a:p>
            <a:pPr>
              <a:defRPr sz="1300">
                <a:solidFill>
                  <a:srgbClr val="E2E8F0"/>
                </a:solidFill>
              </a:defRPr>
            </a:pPr>
            <a:r>
              <a:t>How sensitive are adapted transformer models to surface perturbations (casing, leetspeak, redaction markers), and can a three-tier abstention policy safeguard uncertain edge predictions?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SPAMADAPT RESEARCH PROJECT</a:t>
            </a:r>
          </a:p>
        </p:txBody>
      </p:sp>
      <p:sp>
        <p:nvSpPr>
          <p:cNvPr id="3" name="TextBox 2"/>
          <p:cNvSpPr txBox="1"/>
          <p:nvPr/>
        </p:nvSpPr>
        <p:spPr>
          <a:xfrm>
            <a:off x="731520" y="640080"/>
            <a:ext cx="10698480" cy="640080"/>
          </a:xfrm>
          <a:prstGeom prst="rect">
            <a:avLst/>
          </a:prstGeom>
          <a:noFill/>
        </p:spPr>
        <p:txBody>
          <a:bodyPr wrap="square">
            <a:spAutoFit/>
          </a:bodyPr>
          <a:lstStyle/>
          <a:p>
            <a:pPr>
              <a:defRPr sz="2400" b="1">
                <a:solidFill>
                  <a:srgbClr val="F8FAFC"/>
                </a:solidFill>
              </a:defRPr>
            </a:pPr>
            <a:r>
              <a:t>Data Ingestion, Split Architecture, and Provenance</a:t>
            </a:r>
          </a:p>
        </p:txBody>
      </p:sp>
      <p:sp>
        <p:nvSpPr>
          <p:cNvPr id="4" name="Rounded Rectangle 3"/>
          <p:cNvSpPr/>
          <p:nvPr/>
        </p:nvSpPr>
        <p:spPr>
          <a:xfrm>
            <a:off x="731520" y="1463040"/>
            <a:ext cx="548640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120640" cy="4389120"/>
          </a:xfrm>
          <a:prstGeom prst="rect">
            <a:avLst/>
          </a:prstGeom>
          <a:noFill/>
        </p:spPr>
        <p:txBody>
          <a:bodyPr wrap="square">
            <a:spAutoFit/>
          </a:bodyPr>
          <a:lstStyle/>
          <a:p>
            <a:pPr>
              <a:defRPr sz="1700" b="1">
                <a:solidFill>
                  <a:srgbClr val="38BDF8"/>
                </a:solidFill>
              </a:defRPr>
            </a:pPr>
            <a:r>
              <a:t>Dataset Partitioning &amp; Isolation</a:t>
            </a:r>
          </a:p>
          <a:p>
            <a:pPr>
              <a:defRPr sz="1150">
                <a:solidFill>
                  <a:srgbClr val="E2E8F0"/>
                </a:solidFill>
              </a:defRPr>
            </a:pPr>
            <a:r>
              <a:t>In-Distribution UCI Baseline (4,386 train/val, 774 test):</a:t>
            </a:r>
          </a:p>
          <a:p>
            <a:pPr>
              <a:defRPr sz="1150">
                <a:solidFill>
                  <a:srgbClr val="E2E8F0"/>
                </a:solidFill>
              </a:defRPr>
            </a:pPr>
            <a:r>
              <a:t>  • Training: 3,612 samples (3,131 HAM, 481 SPAM)</a:t>
            </a:r>
          </a:p>
          <a:p>
            <a:pPr>
              <a:defRPr sz="1150">
                <a:solidFill>
                  <a:srgbClr val="E2E8F0"/>
                </a:solidFill>
              </a:defRPr>
            </a:pPr>
            <a:r>
              <a:t>  • Validation: 774 samples (677 HAM, 97 SPAM)</a:t>
            </a:r>
          </a:p>
          <a:p>
            <a:pPr>
              <a:defRPr sz="1150">
                <a:solidFill>
                  <a:srgbClr val="E2E8F0"/>
                </a:solidFill>
              </a:defRPr>
            </a:pPr>
            <a:r>
              <a:t>  • Preserved Test: 774 samples (678 HAM, 96 SPAM)</a:t>
            </a:r>
          </a:p>
          <a:p>
            <a:pPr>
              <a:defRPr sz="1150">
                <a:solidFill>
                  <a:srgbClr val="E2E8F0"/>
                </a:solidFill>
              </a:defRPr>
            </a:pPr>
            <a:r>
              <a:t>Domain-Augmented Dataset (v2 Retraining):</a:t>
            </a:r>
          </a:p>
          <a:p>
            <a:pPr>
              <a:defRPr sz="1150">
                <a:solidFill>
                  <a:srgbClr val="E2E8F0"/>
                </a:solidFill>
              </a:defRPr>
            </a:pPr>
            <a:r>
              <a:t>  • Augmented Pool: 140 curated modern samples (80 HAM / 60 SPAM)</a:t>
            </a:r>
          </a:p>
          <a:p>
            <a:pPr>
              <a:defRPr sz="1150">
                <a:solidFill>
                  <a:srgbClr val="E2E8F0"/>
                </a:solidFill>
              </a:defRPr>
            </a:pPr>
            <a:r>
              <a:t>  • Augmented Train: 3,190 samples (combining UCI + 94 curated)</a:t>
            </a:r>
          </a:p>
          <a:p>
            <a:pPr>
              <a:defRPr sz="1150">
                <a:solidFill>
                  <a:srgbClr val="E2E8F0"/>
                </a:solidFill>
              </a:defRPr>
            </a:pPr>
            <a:r>
              <a:t>  • Augmented Val: 562 samples (combining UCI + 46 curated)</a:t>
            </a:r>
          </a:p>
          <a:p>
            <a:pPr>
              <a:defRPr sz="1150">
                <a:solidFill>
                  <a:srgbClr val="E2E8F0"/>
                </a:solidFill>
              </a:defRPr>
            </a:pPr>
            <a:r>
              <a:t>External Benchmark v2 (Independent Test):</a:t>
            </a:r>
          </a:p>
          <a:p>
            <a:pPr>
              <a:defRPr sz="1150">
                <a:solidFill>
                  <a:srgbClr val="E2E8F0"/>
                </a:solidFill>
              </a:defRPr>
            </a:pPr>
            <a:r>
              <a:t>  • 220 samples (110 HAM, 110 SPAM) across 11 categories.</a:t>
            </a:r>
          </a:p>
        </p:txBody>
      </p:sp>
      <p:sp>
        <p:nvSpPr>
          <p:cNvPr id="6" name="Rounded Rectangle 5"/>
          <p:cNvSpPr/>
          <p:nvPr/>
        </p:nvSpPr>
        <p:spPr>
          <a:xfrm>
            <a:off x="6492240" y="1463040"/>
            <a:ext cx="493776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645920"/>
            <a:ext cx="4572000" cy="4389120"/>
          </a:xfrm>
          <a:prstGeom prst="rect">
            <a:avLst/>
          </a:prstGeom>
          <a:noFill/>
        </p:spPr>
        <p:txBody>
          <a:bodyPr wrap="square">
            <a:spAutoFit/>
          </a:bodyPr>
          <a:lstStyle/>
          <a:p>
            <a:pPr>
              <a:defRPr sz="1700" b="1">
                <a:solidFill>
                  <a:srgbClr val="F59E0B"/>
                </a:solidFill>
              </a:defRPr>
            </a:pPr>
            <a:r>
              <a:t>Provenance Breakdown (N=220)</a:t>
            </a:r>
          </a:p>
          <a:p>
            <a:pPr>
              <a:defRPr sz="1150">
                <a:solidFill>
                  <a:srgbClr val="E2E8F0"/>
                </a:solidFill>
              </a:defRPr>
            </a:pPr>
            <a:r>
              <a:t>1. Regulatory Advisory Exhibits: 110 samples (50.0%)</a:t>
            </a:r>
          </a:p>
          <a:p>
            <a:pPr>
              <a:defRPr sz="1150">
                <a:solidFill>
                  <a:srgbClr val="E2E8F0"/>
                </a:solidFill>
              </a:defRPr>
            </a:pPr>
            <a:r>
              <a:t>   • Extracted directly from official cybercrime advisories (PIB, TRAI, CERT-In, RBI).</a:t>
            </a:r>
          </a:p>
          <a:p>
            <a:pPr>
              <a:defRPr sz="1150">
                <a:solidFill>
                  <a:srgbClr val="E2E8F0"/>
                </a:solidFill>
              </a:defRPr>
            </a:pPr>
            <a:r>
              <a:t>2. Enterprise Templates (Redacted): 85 samples (38.6%)</a:t>
            </a:r>
          </a:p>
          <a:p>
            <a:pPr>
              <a:defRPr sz="1150">
                <a:solidFill>
                  <a:srgbClr val="E2E8F0"/>
                </a:solidFill>
              </a:defRPr>
            </a:pPr>
            <a:r>
              <a:t>   • Curated enterprise transactional SMS templates with redacted identifiers.</a:t>
            </a:r>
          </a:p>
          <a:p>
            <a:pPr>
              <a:defRPr sz="1150">
                <a:solidFill>
                  <a:srgbClr val="E2E8F0"/>
                </a:solidFill>
              </a:defRPr>
            </a:pPr>
            <a:r>
              <a:t>3. Verified Real-World Mobile Captures: 15 samples (6.8%)</a:t>
            </a:r>
          </a:p>
          <a:p>
            <a:pPr>
              <a:defRPr sz="1150">
                <a:solidFill>
                  <a:srgbClr val="E2E8F0"/>
                </a:solidFill>
              </a:defRPr>
            </a:pPr>
            <a:r>
              <a:t>   • Directly captured from consumer devices with consent &amp; verification.</a:t>
            </a:r>
          </a:p>
          <a:p>
            <a:pPr>
              <a:defRPr sz="1150">
                <a:solidFill>
                  <a:srgbClr val="E2E8F0"/>
                </a:solidFill>
              </a:defRPr>
            </a:pPr>
            <a:r>
              <a:t>4. Contrastive Synthetic Pairs: 10 samples (4.5%)</a:t>
            </a:r>
          </a:p>
          <a:p>
            <a:pPr>
              <a:defRPr sz="1150">
                <a:solidFill>
                  <a:srgbClr val="E2E8F0"/>
                </a:solidFill>
              </a:defRPr>
            </a:pPr>
            <a:r>
              <a:t>   • Minimal lexical edits isolating single phishing indicators.</a:t>
            </a:r>
          </a:p>
          <a:p>
            <a:pPr>
              <a:defRPr sz="1150">
                <a:solidFill>
                  <a:srgbClr val="E2E8F0"/>
                </a:solidFill>
              </a:defRPr>
            </a:pPr>
            <a:r>
              <a:t>Zero-Leakage Invariant: 0 exact matches, 0 normalized leaks into training or validation splits.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SPAMADAPT RESEARCH PROJECT</a:t>
            </a:r>
          </a:p>
        </p:txBody>
      </p:sp>
      <p:sp>
        <p:nvSpPr>
          <p:cNvPr id="3" name="TextBox 2"/>
          <p:cNvSpPr txBox="1"/>
          <p:nvPr/>
        </p:nvSpPr>
        <p:spPr>
          <a:xfrm>
            <a:off x="731520" y="640080"/>
            <a:ext cx="10698480" cy="640080"/>
          </a:xfrm>
          <a:prstGeom prst="rect">
            <a:avLst/>
          </a:prstGeom>
          <a:noFill/>
        </p:spPr>
        <p:txBody>
          <a:bodyPr wrap="square">
            <a:spAutoFit/>
          </a:bodyPr>
          <a:lstStyle/>
          <a:p>
            <a:pPr>
              <a:defRPr sz="2400" b="1">
                <a:solidFill>
                  <a:srgbClr val="F8FAFC"/>
                </a:solidFill>
              </a:defRPr>
            </a:pPr>
            <a:r>
              <a:t>Case Study: The Telecom False-Positive Regression</a:t>
            </a:r>
          </a:p>
        </p:txBody>
      </p:sp>
      <p:sp>
        <p:nvSpPr>
          <p:cNvPr id="4" name="Rounded Rectangle 3"/>
          <p:cNvSpPr/>
          <p:nvPr/>
        </p:nvSpPr>
        <p:spPr>
          <a:xfrm>
            <a:off x="731520" y="1463040"/>
            <a:ext cx="10698480" cy="1463040"/>
          </a:xfrm>
          <a:prstGeom prst="round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332720" cy="1188720"/>
          </a:xfrm>
          <a:prstGeom prst="rect">
            <a:avLst/>
          </a:prstGeom>
          <a:noFill/>
        </p:spPr>
        <p:txBody>
          <a:bodyPr wrap="square">
            <a:spAutoFit/>
          </a:bodyPr>
          <a:lstStyle/>
          <a:p>
            <a:pPr>
              <a:defRPr sz="1300" b="1">
                <a:solidFill>
                  <a:srgbClr val="F43F5E"/>
                </a:solidFill>
              </a:defRPr>
            </a:pPr>
            <a:r>
              <a:t>VERIFIED BENIGN TELECOM NOTIFICATION FIXTURE (GROUND TRUTH: HAM / 0)</a:t>
            </a:r>
          </a:p>
          <a:p>
            <a:pPr>
              <a:defRPr sz="1400" i="1">
                <a:solidFill>
                  <a:srgbClr val="F8FAFC"/>
                </a:solidFill>
              </a:defRPr>
            </a:pPr>
            <a:r>
              <a:t>"Dear customer, your mobile number reverification request has been received and confirmed. For details, contact customer care at 198 or care@telecom.in. Thank you."</a:t>
            </a:r>
          </a:p>
        </p:txBody>
      </p:sp>
      <p:sp>
        <p:nvSpPr>
          <p:cNvPr id="6" name="Rounded Rectangle 5"/>
          <p:cNvSpPr/>
          <p:nvPr/>
        </p:nvSpPr>
        <p:spPr>
          <a:xfrm>
            <a:off x="731520" y="3108960"/>
            <a:ext cx="5120640" cy="3108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46120"/>
            <a:ext cx="4754880" cy="2834640"/>
          </a:xfrm>
          <a:prstGeom prst="rect">
            <a:avLst/>
          </a:prstGeom>
          <a:noFill/>
        </p:spPr>
        <p:txBody>
          <a:bodyPr wrap="square">
            <a:spAutoFit/>
          </a:bodyPr>
          <a:lstStyle/>
          <a:p>
            <a:pPr>
              <a:defRPr sz="1600" b="1">
                <a:solidFill>
                  <a:srgbClr val="F43F5E"/>
                </a:solidFill>
              </a:defRPr>
            </a:pPr>
            <a:r>
              <a:t>Baseline v1 Retraining (UCI Only)</a:t>
            </a:r>
          </a:p>
          <a:p>
            <a:pPr>
              <a:defRPr sz="1200">
                <a:solidFill>
                  <a:srgbClr val="E2E8F0"/>
                </a:solidFill>
              </a:defRPr>
            </a:pPr>
            <a:r>
              <a:t>❌ Full Fine-Tuning v1: Predicted SPAM (P = 0.9991)</a:t>
            </a:r>
          </a:p>
          <a:p>
            <a:pPr>
              <a:defRPr sz="1200">
                <a:solidFill>
                  <a:srgbClr val="E2E8F0"/>
                </a:solidFill>
              </a:defRPr>
            </a:pPr>
            <a:r>
              <a:t>❌ LoRA v1 (PEFT): Predicted SPAM (P = 0.9989)</a:t>
            </a:r>
          </a:p>
          <a:p>
            <a:pPr>
              <a:defRPr sz="1200">
                <a:solidFill>
                  <a:srgbClr val="E2E8F0"/>
                </a:solidFill>
              </a:defRPr>
            </a:pPr>
            <a:r>
              <a:t>❌ DoRA v1 (PEFT): Predicted SPAM (P = 0.9990)</a:t>
            </a:r>
          </a:p>
          <a:p>
            <a:pPr>
              <a:defRPr sz="1200">
                <a:solidFill>
                  <a:srgbClr val="E2E8F0"/>
                </a:solidFill>
              </a:defRPr>
            </a:pPr>
            <a:r>
              <a:t>❌ Diagnosis: Catastrophic false alarm caused by out-of-vocabulary enterprise keywords ('reverification', 'customer care', '198').</a:t>
            </a:r>
          </a:p>
        </p:txBody>
      </p:sp>
      <p:sp>
        <p:nvSpPr>
          <p:cNvPr id="8" name="Rounded Rectangle 7"/>
          <p:cNvSpPr/>
          <p:nvPr/>
        </p:nvSpPr>
        <p:spPr>
          <a:xfrm>
            <a:off x="6217920" y="3108960"/>
            <a:ext cx="5212080" cy="3108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3246120"/>
            <a:ext cx="4846320" cy="2834640"/>
          </a:xfrm>
          <a:prstGeom prst="rect">
            <a:avLst/>
          </a:prstGeom>
          <a:noFill/>
        </p:spPr>
        <p:txBody>
          <a:bodyPr wrap="square">
            <a:spAutoFit/>
          </a:bodyPr>
          <a:lstStyle/>
          <a:p>
            <a:pPr>
              <a:defRPr sz="1600" b="1">
                <a:solidFill>
                  <a:srgbClr val="34D399"/>
                </a:solidFill>
              </a:defRPr>
            </a:pPr>
            <a:r>
              <a:t>Adapted v2 Models (SpamAdapt)</a:t>
            </a:r>
          </a:p>
          <a:p>
            <a:pPr>
              <a:defRPr sz="1200">
                <a:solidFill>
                  <a:srgbClr val="E2E8F0"/>
                </a:solidFill>
              </a:defRPr>
            </a:pPr>
            <a:r>
              <a:t>✅ Full Fine-Tuning v2: Predicted HAM (P_HAM = 99.82%, tau = 0.10)</a:t>
            </a:r>
          </a:p>
          <a:p>
            <a:pPr>
              <a:defRPr sz="1200">
                <a:solidFill>
                  <a:srgbClr val="E2E8F0"/>
                </a:solidFill>
              </a:defRPr>
            </a:pPr>
            <a:r>
              <a:t>✅ LoRA v2 (PEFT): Predicted HAM (P_HAM = 96.02%, tau = 0.18)</a:t>
            </a:r>
          </a:p>
          <a:p>
            <a:pPr>
              <a:defRPr sz="1200">
                <a:solidFill>
                  <a:srgbClr val="E2E8F0"/>
                </a:solidFill>
              </a:defRPr>
            </a:pPr>
            <a:r>
              <a:t>✅ DoRA v2 (PEFT): Predicted HAM (P_HAM = 96.21%, tau = 0.18)</a:t>
            </a:r>
          </a:p>
          <a:p>
            <a:pPr>
              <a:defRPr sz="1200">
                <a:solidFill>
                  <a:srgbClr val="E2E8F0"/>
                </a:solidFill>
              </a:defRPr>
            </a:pPr>
            <a:r>
              <a:t>✅ Outcome: Zero hardcoded overrides; complete recovery via representation learning &amp; conservative threshold tuning.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SPAMADAPT RESEARCH PROJECT</a:t>
            </a:r>
          </a:p>
        </p:txBody>
      </p:sp>
      <p:sp>
        <p:nvSpPr>
          <p:cNvPr id="3" name="TextBox 2"/>
          <p:cNvSpPr txBox="1"/>
          <p:nvPr/>
        </p:nvSpPr>
        <p:spPr>
          <a:xfrm>
            <a:off x="731520" y="640080"/>
            <a:ext cx="10698480" cy="640080"/>
          </a:xfrm>
          <a:prstGeom prst="rect">
            <a:avLst/>
          </a:prstGeom>
          <a:noFill/>
        </p:spPr>
        <p:txBody>
          <a:bodyPr wrap="square">
            <a:spAutoFit/>
          </a:bodyPr>
          <a:lstStyle/>
          <a:p>
            <a:pPr>
              <a:defRPr sz="2400" b="1">
                <a:solidFill>
                  <a:srgbClr val="F8FAFC"/>
                </a:solidFill>
              </a:defRPr>
            </a:pPr>
            <a:r>
              <a:t>SpamAdapt System Architecture &amp; Decision Flow</a:t>
            </a:r>
          </a:p>
        </p:txBody>
      </p:sp>
      <p:sp>
        <p:nvSpPr>
          <p:cNvPr id="4" name="Rounded Rectangle 3"/>
          <p:cNvSpPr/>
          <p:nvPr/>
        </p:nvSpPr>
        <p:spPr>
          <a:xfrm>
            <a:off x="731520" y="1645920"/>
            <a:ext cx="205740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874519" cy="4023360"/>
          </a:xfrm>
          <a:prstGeom prst="rect">
            <a:avLst/>
          </a:prstGeom>
          <a:noFill/>
        </p:spPr>
        <p:txBody>
          <a:bodyPr wrap="square">
            <a:spAutoFit/>
          </a:bodyPr>
          <a:lstStyle/>
          <a:p>
            <a:pPr>
              <a:defRPr sz="1400" b="1">
                <a:solidFill>
                  <a:srgbClr val="38BDF8"/>
                </a:solidFill>
              </a:defRPr>
            </a:pPr>
            <a:r>
              <a:t>1. SMS Ingestion</a:t>
            </a:r>
          </a:p>
          <a:p>
            <a:br/>
            <a:pPr>
              <a:defRPr sz="1200">
                <a:solidFill>
                  <a:srgbClr val="E2E8F0"/>
                </a:solidFill>
              </a:defRPr>
            </a:pPr>
            <a:r>
              <a:t>Raw SMS received in volatile RAM;</a:t>
            </a:r>
            <a:br/>
            <a:r>
              <a:t>zero disk persistence.</a:t>
            </a:r>
            <a:br/>
            <a:r>
              <a:t>Max length = 128 tokens.</a:t>
            </a:r>
          </a:p>
        </p:txBody>
      </p:sp>
      <p:sp>
        <p:nvSpPr>
          <p:cNvPr id="6" name="Rounded Rectangle 5"/>
          <p:cNvSpPr/>
          <p:nvPr/>
        </p:nvSpPr>
        <p:spPr>
          <a:xfrm>
            <a:off x="2907791" y="1645920"/>
            <a:ext cx="205740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99231" y="1828800"/>
            <a:ext cx="1874519" cy="4023360"/>
          </a:xfrm>
          <a:prstGeom prst="rect">
            <a:avLst/>
          </a:prstGeom>
          <a:noFill/>
        </p:spPr>
        <p:txBody>
          <a:bodyPr wrap="square">
            <a:spAutoFit/>
          </a:bodyPr>
          <a:lstStyle/>
          <a:p>
            <a:pPr>
              <a:defRPr sz="1400" b="1">
                <a:solidFill>
                  <a:srgbClr val="818CF8"/>
                </a:solidFill>
              </a:defRPr>
            </a:pPr>
            <a:r>
              <a:t>2. Tokenization</a:t>
            </a:r>
          </a:p>
          <a:p>
            <a:br/>
            <a:pPr>
              <a:defRPr sz="1200">
                <a:solidFill>
                  <a:srgbClr val="E2E8F0"/>
                </a:solidFill>
              </a:defRPr>
            </a:pPr>
            <a:r>
              <a:t>BERT WordPiece tokenizer</a:t>
            </a:r>
            <a:br/>
            <a:r>
              <a:t>(30,522 vocabulary).</a:t>
            </a:r>
            <a:br/>
            <a:r>
              <a:t>Lowercase uncased lookup.</a:t>
            </a:r>
          </a:p>
        </p:txBody>
      </p:sp>
      <p:sp>
        <p:nvSpPr>
          <p:cNvPr id="8" name="Rounded Rectangle 7"/>
          <p:cNvSpPr/>
          <p:nvPr/>
        </p:nvSpPr>
        <p:spPr>
          <a:xfrm>
            <a:off x="5084064" y="1645920"/>
            <a:ext cx="205740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75504" y="1828800"/>
            <a:ext cx="1874519" cy="4023360"/>
          </a:xfrm>
          <a:prstGeom prst="rect">
            <a:avLst/>
          </a:prstGeom>
          <a:noFill/>
        </p:spPr>
        <p:txBody>
          <a:bodyPr wrap="square">
            <a:spAutoFit/>
          </a:bodyPr>
          <a:lstStyle/>
          <a:p>
            <a:pPr>
              <a:defRPr sz="1400" b="1">
                <a:solidFill>
                  <a:srgbClr val="F59E0B"/>
                </a:solidFill>
              </a:defRPr>
            </a:pPr>
            <a:r>
              <a:t>3. Model Core</a:t>
            </a:r>
          </a:p>
          <a:p>
            <a:br/>
            <a:pPr>
              <a:defRPr sz="1200">
                <a:solidFill>
                  <a:srgbClr val="E2E8F0"/>
                </a:solidFill>
              </a:defRPr>
            </a:pPr>
            <a:r>
              <a:t>Frozen BERT Backbone</a:t>
            </a:r>
            <a:br/>
            <a:r>
              <a:t>+ Dynamic Adapter Head</a:t>
            </a:r>
            <a:br/>
            <a:r>
              <a:t>(Full FT / LoRA / DoRA).</a:t>
            </a:r>
          </a:p>
        </p:txBody>
      </p:sp>
      <p:sp>
        <p:nvSpPr>
          <p:cNvPr id="10" name="Rounded Rectangle 9"/>
          <p:cNvSpPr/>
          <p:nvPr/>
        </p:nvSpPr>
        <p:spPr>
          <a:xfrm>
            <a:off x="7260336" y="1645920"/>
            <a:ext cx="205740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51776" y="1828800"/>
            <a:ext cx="1874519" cy="4023360"/>
          </a:xfrm>
          <a:prstGeom prst="rect">
            <a:avLst/>
          </a:prstGeom>
          <a:noFill/>
        </p:spPr>
        <p:txBody>
          <a:bodyPr wrap="square">
            <a:spAutoFit/>
          </a:bodyPr>
          <a:lstStyle/>
          <a:p>
            <a:pPr>
              <a:defRPr sz="1400" b="1">
                <a:solidFill>
                  <a:srgbClr val="34D399"/>
                </a:solidFill>
              </a:defRPr>
            </a:pPr>
            <a:r>
              <a:t>4. Decision Tier</a:t>
            </a:r>
          </a:p>
          <a:p>
            <a:br/>
            <a:pPr>
              <a:defRPr sz="1200">
                <a:solidFill>
                  <a:srgbClr val="E2E8F0"/>
                </a:solidFill>
              </a:defRPr>
            </a:pPr>
            <a:r>
              <a:t>Model-specific abstention policy:</a:t>
            </a:r>
            <a:br/>
            <a:r>
              <a:t>HAM / SUSPECTED_SPAM /</a:t>
            </a:r>
            <a:br/>
            <a:r>
              <a:t>REVIEW_REQUIRED.</a:t>
            </a:r>
          </a:p>
        </p:txBody>
      </p:sp>
      <p:sp>
        <p:nvSpPr>
          <p:cNvPr id="12" name="Rounded Rectangle 11"/>
          <p:cNvSpPr/>
          <p:nvPr/>
        </p:nvSpPr>
        <p:spPr>
          <a:xfrm>
            <a:off x="9436608" y="1645920"/>
            <a:ext cx="205740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28048" y="1828800"/>
            <a:ext cx="1874519" cy="4023360"/>
          </a:xfrm>
          <a:prstGeom prst="rect">
            <a:avLst/>
          </a:prstGeom>
          <a:noFill/>
        </p:spPr>
        <p:txBody>
          <a:bodyPr wrap="square">
            <a:spAutoFit/>
          </a:bodyPr>
          <a:lstStyle/>
          <a:p>
            <a:pPr>
              <a:defRPr sz="1400" b="1">
                <a:solidFill>
                  <a:srgbClr val="F43F5E"/>
                </a:solidFill>
              </a:defRPr>
            </a:pPr>
            <a:r>
              <a:t>5. Presentation</a:t>
            </a:r>
          </a:p>
          <a:p>
            <a:br/>
            <a:pPr>
              <a:defRPr sz="1200">
                <a:solidFill>
                  <a:srgbClr val="E2E8F0"/>
                </a:solidFill>
              </a:defRPr>
            </a:pPr>
            <a:r>
              <a:t>Streamlit 1.65 UI:</a:t>
            </a:r>
            <a:br/>
            <a:r>
              <a:t>Status banner, score breakdown,</a:t>
            </a:r>
            <a:br/>
            <a:r>
              <a:t>&amp; forensic disclaimer.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SPAMADAPT RESEARCH PROJECT</a:t>
            </a:r>
          </a:p>
        </p:txBody>
      </p:sp>
      <p:sp>
        <p:nvSpPr>
          <p:cNvPr id="3" name="TextBox 2"/>
          <p:cNvSpPr txBox="1"/>
          <p:nvPr/>
        </p:nvSpPr>
        <p:spPr>
          <a:xfrm>
            <a:off x="731520" y="640080"/>
            <a:ext cx="10698480" cy="640080"/>
          </a:xfrm>
          <a:prstGeom prst="rect">
            <a:avLst/>
          </a:prstGeom>
          <a:noFill/>
        </p:spPr>
        <p:txBody>
          <a:bodyPr wrap="square">
            <a:spAutoFit/>
          </a:bodyPr>
          <a:lstStyle/>
          <a:p>
            <a:pPr>
              <a:defRPr sz="2400" b="1">
                <a:solidFill>
                  <a:srgbClr val="F8FAFC"/>
                </a:solidFill>
              </a:defRPr>
            </a:pPr>
            <a:r>
              <a:t>Adaptation Mechanics: Full Fine-Tuning, LoRA, and DoRA</a:t>
            </a:r>
          </a:p>
        </p:txBody>
      </p:sp>
      <p:sp>
        <p:nvSpPr>
          <p:cNvPr id="4" name="Rounded Rectangle 3"/>
          <p:cNvSpPr/>
          <p:nvPr/>
        </p:nvSpPr>
        <p:spPr>
          <a:xfrm>
            <a:off x="731520" y="1463040"/>
            <a:ext cx="32918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2926080" cy="4389120"/>
          </a:xfrm>
          <a:prstGeom prst="rect">
            <a:avLst/>
          </a:prstGeom>
          <a:noFill/>
        </p:spPr>
        <p:txBody>
          <a:bodyPr wrap="square">
            <a:spAutoFit/>
          </a:bodyPr>
          <a:lstStyle/>
          <a:p>
            <a:pPr>
              <a:defRPr sz="1700" b="1">
                <a:solidFill>
                  <a:srgbClr val="F43F5E"/>
                </a:solidFill>
              </a:defRPr>
            </a:pPr>
            <a:r>
              <a:t>Full Fine-Tuning</a:t>
            </a:r>
          </a:p>
          <a:p>
            <a:pPr>
              <a:defRPr sz="1150">
                <a:solidFill>
                  <a:srgbClr val="E2E8F0"/>
                </a:solidFill>
              </a:defRPr>
            </a:pPr>
            <a:r>
              <a:t>Equation:</a:t>
            </a:r>
          </a:p>
          <a:p>
            <a:pPr>
              <a:defRPr sz="1150">
                <a:solidFill>
                  <a:srgbClr val="E2E8F0"/>
                </a:solidFill>
              </a:defRPr>
            </a:pPr>
            <a:r>
              <a:t>  W = W_0 + Delta W</a:t>
            </a:r>
          </a:p>
          <a:p>
            <a:pPr>
              <a:defRPr sz="1150">
                <a:solidFill>
                  <a:srgbClr val="E2E8F0"/>
                </a:solidFill>
              </a:defRPr>
            </a:pPr>
            <a:r>
              <a:t>Mechanism:</a:t>
            </a:r>
          </a:p>
          <a:p>
            <a:pPr>
              <a:defRPr sz="1150">
                <a:solidFill>
                  <a:srgbClr val="E2E8F0"/>
                </a:solidFill>
              </a:defRPr>
            </a:pPr>
            <a:r>
              <a:t>  • Updates all 109.5M weights across 12 transformer encoder layers.</a:t>
            </a:r>
          </a:p>
          <a:p>
            <a:pPr>
              <a:defRPr sz="1150">
                <a:solidFill>
                  <a:srgbClr val="E2E8F0"/>
                </a:solidFill>
              </a:defRPr>
            </a:pPr>
            <a:r>
              <a:t>  • Unconstrained gradient optimization.</a:t>
            </a:r>
          </a:p>
          <a:p>
            <a:pPr>
              <a:defRPr sz="1150">
                <a:solidFill>
                  <a:srgbClr val="E2E8F0"/>
                </a:solidFill>
              </a:defRPr>
            </a:pPr>
            <a:r>
              <a:t>Cost &amp; Storage:</a:t>
            </a:r>
          </a:p>
          <a:p>
            <a:pPr>
              <a:defRPr sz="1150">
                <a:solidFill>
                  <a:srgbClr val="E2E8F0"/>
                </a:solidFill>
              </a:defRPr>
            </a:pPr>
            <a:r>
              <a:t>  • 100% parameter update.</a:t>
            </a:r>
          </a:p>
          <a:p>
            <a:pPr>
              <a:defRPr sz="1150">
                <a:solidFill>
                  <a:srgbClr val="E2E8F0"/>
                </a:solidFill>
              </a:defRPr>
            </a:pPr>
            <a:r>
              <a:t>  • 418.35 MB checkpoint per task.</a:t>
            </a:r>
          </a:p>
          <a:p>
            <a:pPr>
              <a:defRPr sz="1150">
                <a:solidFill>
                  <a:srgbClr val="E2E8F0"/>
                </a:solidFill>
              </a:defRPr>
            </a:pPr>
            <a:r>
              <a:t>Risk:</a:t>
            </a:r>
          </a:p>
          <a:p>
            <a:pPr>
              <a:defRPr sz="1150">
                <a:solidFill>
                  <a:srgbClr val="E2E8F0"/>
                </a:solidFill>
              </a:defRPr>
            </a:pPr>
            <a:r>
              <a:t>  • Catastrophic forgetting of generic language representations.</a:t>
            </a:r>
          </a:p>
        </p:txBody>
      </p:sp>
      <p:sp>
        <p:nvSpPr>
          <p:cNvPr id="6" name="Rounded Rectangle 5"/>
          <p:cNvSpPr/>
          <p:nvPr/>
        </p:nvSpPr>
        <p:spPr>
          <a:xfrm>
            <a:off x="4389120" y="1463040"/>
            <a:ext cx="33832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3017520" cy="4389120"/>
          </a:xfrm>
          <a:prstGeom prst="rect">
            <a:avLst/>
          </a:prstGeom>
          <a:noFill/>
        </p:spPr>
        <p:txBody>
          <a:bodyPr wrap="square">
            <a:spAutoFit/>
          </a:bodyPr>
          <a:lstStyle/>
          <a:p>
            <a:pPr>
              <a:defRPr sz="1700" b="1">
                <a:solidFill>
                  <a:srgbClr val="38BDF8"/>
                </a:solidFill>
              </a:defRPr>
            </a:pPr>
            <a:r>
              <a:t>LoRA (PEFT)</a:t>
            </a:r>
          </a:p>
          <a:p>
            <a:pPr>
              <a:defRPr sz="1150">
                <a:solidFill>
                  <a:srgbClr val="E2E8F0"/>
                </a:solidFill>
              </a:defRPr>
            </a:pPr>
            <a:r>
              <a:t>Equation:</a:t>
            </a:r>
          </a:p>
          <a:p>
            <a:pPr>
              <a:defRPr sz="1150">
                <a:solidFill>
                  <a:srgbClr val="E2E8F0"/>
                </a:solidFill>
              </a:defRPr>
            </a:pPr>
            <a:r>
              <a:t>  W = W_0 + (alpha / r) * B * A</a:t>
            </a:r>
          </a:p>
          <a:p>
            <a:pPr>
              <a:defRPr sz="1150">
                <a:solidFill>
                  <a:srgbClr val="E2E8F0"/>
                </a:solidFill>
              </a:defRPr>
            </a:pPr>
            <a:r>
              <a:t>Mechanism:</a:t>
            </a:r>
          </a:p>
          <a:p>
            <a:pPr>
              <a:defRPr sz="1150">
                <a:solidFill>
                  <a:srgbClr val="E2E8F0"/>
                </a:solidFill>
              </a:defRPr>
            </a:pPr>
            <a:r>
              <a:t>  • Freezes W_0 (109.5M params).</a:t>
            </a:r>
          </a:p>
          <a:p>
            <a:pPr>
              <a:defRPr sz="1150">
                <a:solidFill>
                  <a:srgbClr val="E2E8F0"/>
                </a:solidFill>
              </a:defRPr>
            </a:pPr>
            <a:r>
              <a:t>  • Injects low-rank matrices A and B (rank r=8, alpha=16) into query &amp; value projections.</a:t>
            </a:r>
          </a:p>
          <a:p>
            <a:pPr>
              <a:defRPr sz="1150">
                <a:solidFill>
                  <a:srgbClr val="E2E8F0"/>
                </a:solidFill>
              </a:defRPr>
            </a:pPr>
            <a:r>
              <a:t>Cost &amp; Storage:</a:t>
            </a:r>
          </a:p>
          <a:p>
            <a:pPr>
              <a:defRPr sz="1150">
                <a:solidFill>
                  <a:srgbClr val="E2E8F0"/>
                </a:solidFill>
              </a:defRPr>
            </a:pPr>
            <a:r>
              <a:t>  • 296,450 trainable params (0.27%).</a:t>
            </a:r>
          </a:p>
          <a:p>
            <a:pPr>
              <a:defRPr sz="1150">
                <a:solidFill>
                  <a:srgbClr val="E2E8F0"/>
                </a:solidFill>
              </a:defRPr>
            </a:pPr>
            <a:r>
              <a:t>  • 1.82 MB adapter footprint (99.55% disk reduction).</a:t>
            </a:r>
          </a:p>
          <a:p>
            <a:pPr>
              <a:defRPr sz="1150">
                <a:solidFill>
                  <a:srgbClr val="E2E8F0"/>
                </a:solidFill>
              </a:defRPr>
            </a:pPr>
            <a:r>
              <a:t>Advantage:</a:t>
            </a:r>
          </a:p>
          <a:p>
            <a:pPr>
              <a:defRPr sz="1150">
                <a:solidFill>
                  <a:srgbClr val="E2E8F0"/>
                </a:solidFill>
              </a:defRPr>
            </a:pPr>
            <a:r>
              <a:t>  • Zero inference overhead via static weight merging: W = W_0 + Delta W.</a:t>
            </a:r>
          </a:p>
        </p:txBody>
      </p:sp>
      <p:sp>
        <p:nvSpPr>
          <p:cNvPr id="8" name="Rounded Rectangle 7"/>
          <p:cNvSpPr/>
          <p:nvPr/>
        </p:nvSpPr>
        <p:spPr>
          <a:xfrm>
            <a:off x="8138160" y="1463040"/>
            <a:ext cx="32918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645920"/>
            <a:ext cx="2926080" cy="4389120"/>
          </a:xfrm>
          <a:prstGeom prst="rect">
            <a:avLst/>
          </a:prstGeom>
          <a:noFill/>
        </p:spPr>
        <p:txBody>
          <a:bodyPr wrap="square">
            <a:spAutoFit/>
          </a:bodyPr>
          <a:lstStyle/>
          <a:p>
            <a:pPr>
              <a:defRPr sz="1700" b="1">
                <a:solidFill>
                  <a:srgbClr val="818CF8"/>
                </a:solidFill>
              </a:defRPr>
            </a:pPr>
            <a:r>
              <a:t>DoRA (PEFT)</a:t>
            </a:r>
          </a:p>
          <a:p>
            <a:pPr>
              <a:defRPr sz="1150">
                <a:solidFill>
                  <a:srgbClr val="E2E8F0"/>
                </a:solidFill>
              </a:defRPr>
            </a:pPr>
            <a:r>
              <a:t>Equation:</a:t>
            </a:r>
          </a:p>
          <a:p>
            <a:pPr>
              <a:defRPr sz="1150">
                <a:solidFill>
                  <a:srgbClr val="E2E8F0"/>
                </a:solidFill>
              </a:defRPr>
            </a:pPr>
            <a:r>
              <a:t>  W = m * (W_0 + Delta W) / ||W_0 + Delta W||_c</a:t>
            </a:r>
          </a:p>
          <a:p>
            <a:pPr>
              <a:defRPr sz="1150">
                <a:solidFill>
                  <a:srgbClr val="E2E8F0"/>
                </a:solidFill>
              </a:defRPr>
            </a:pPr>
            <a:r>
              <a:t>Mechanism:</a:t>
            </a:r>
          </a:p>
          <a:p>
            <a:pPr>
              <a:defRPr sz="1150">
                <a:solidFill>
                  <a:srgbClr val="E2E8F0"/>
                </a:solidFill>
              </a:defRPr>
            </a:pPr>
            <a:r>
              <a:t>  • Decomposes weights into magnitude vector m and directional matrix V.</a:t>
            </a:r>
          </a:p>
          <a:p>
            <a:pPr>
              <a:defRPr sz="1150">
                <a:solidFill>
                  <a:srgbClr val="E2E8F0"/>
                </a:solidFill>
              </a:defRPr>
            </a:pPr>
            <a:r>
              <a:t>  • Re-parameterizes direction with LoRA: V = W_0 + (alpha/r)*B*A.</a:t>
            </a:r>
          </a:p>
          <a:p>
            <a:pPr>
              <a:defRPr sz="1150">
                <a:solidFill>
                  <a:srgbClr val="E2E8F0"/>
                </a:solidFill>
              </a:defRPr>
            </a:pPr>
            <a:r>
              <a:t>Cost &amp; Storage:</a:t>
            </a:r>
          </a:p>
          <a:p>
            <a:pPr>
              <a:defRPr sz="1150">
                <a:solidFill>
                  <a:srgbClr val="E2E8F0"/>
                </a:solidFill>
              </a:defRPr>
            </a:pPr>
            <a:r>
              <a:t>  • 314,882 trainable params (0.29%).</a:t>
            </a:r>
          </a:p>
          <a:p>
            <a:pPr>
              <a:defRPr sz="1150">
                <a:solidFill>
                  <a:srgbClr val="E2E8F0"/>
                </a:solidFill>
              </a:defRPr>
            </a:pPr>
            <a:r>
              <a:t>  • 1.90 MB adapter footprint.</a:t>
            </a:r>
          </a:p>
          <a:p>
            <a:pPr>
              <a:defRPr sz="1150">
                <a:solidFill>
                  <a:srgbClr val="E2E8F0"/>
                </a:solidFill>
              </a:defRPr>
            </a:pPr>
            <a:r>
              <a:t>Advantage:</a:t>
            </a:r>
          </a:p>
          <a:p>
            <a:pPr>
              <a:defRPr sz="1150">
                <a:solidFill>
                  <a:srgbClr val="E2E8F0"/>
                </a:solidFill>
              </a:defRPr>
            </a:pPr>
            <a:r>
              <a:t>  • Closer optimization dynamics to Full FT while preserving PEFT compactness.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SPAMADAPT RESEARCH PROJECT</a:t>
            </a:r>
          </a:p>
        </p:txBody>
      </p:sp>
      <p:sp>
        <p:nvSpPr>
          <p:cNvPr id="3" name="TextBox 2"/>
          <p:cNvSpPr txBox="1"/>
          <p:nvPr/>
        </p:nvSpPr>
        <p:spPr>
          <a:xfrm>
            <a:off x="731520" y="640080"/>
            <a:ext cx="10698480" cy="640080"/>
          </a:xfrm>
          <a:prstGeom prst="rect">
            <a:avLst/>
          </a:prstGeom>
          <a:noFill/>
        </p:spPr>
        <p:txBody>
          <a:bodyPr wrap="square">
            <a:spAutoFit/>
          </a:bodyPr>
          <a:lstStyle/>
          <a:p>
            <a:pPr>
              <a:defRPr sz="2400" b="1">
                <a:solidFill>
                  <a:srgbClr val="F8FAFC"/>
                </a:solidFill>
              </a:defRPr>
            </a:pPr>
            <a:r>
              <a:t>Training Configurations &amp; Resource Efficiency Profile</a:t>
            </a:r>
          </a:p>
        </p:txBody>
      </p:sp>
      <p:sp>
        <p:nvSpPr>
          <p:cNvPr id="4" name="Rounded Rectangle 3"/>
          <p:cNvSpPr/>
          <p:nvPr/>
        </p:nvSpPr>
        <p:spPr>
          <a:xfrm>
            <a:off x="731520" y="1463040"/>
            <a:ext cx="106984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1005840" y="1737360"/>
          <a:ext cx="10149840" cy="4114800"/>
        </p:xfrm>
        <a:graphic>
          <a:graphicData uri="http://schemas.openxmlformats.org/drawingml/2006/table">
            <a:tbl>
              <a:tblPr firstRow="1" bandRow="1">
                <a:tableStyleId>{5C22544A-7EE6-4342-B048-85BDC9FD1C3A}</a:tableStyleId>
              </a:tblPr>
              <a:tblGrid>
                <a:gridCol w="2103120"/>
                <a:gridCol w="1554480"/>
                <a:gridCol w="1554480"/>
                <a:gridCol w="1645920"/>
                <a:gridCol w="1645920"/>
                <a:gridCol w="1645920"/>
              </a:tblGrid>
              <a:tr h="685800">
                <a:tc>
                  <a:txBody>
                    <a:bodyPr/>
                    <a:lstStyle/>
                    <a:p>
                      <a:pPr>
                        <a:defRPr sz="1200" b="1">
                          <a:solidFill>
                            <a:srgbClr val="F8FAFC"/>
                          </a:solidFill>
                        </a:defRPr>
                      </a:pPr>
                      <a:r>
                        <a:t>Metric / Parameter</a:t>
                      </a:r>
                    </a:p>
                  </a:txBody>
                  <a:tcPr>
                    <a:solidFill>
                      <a:srgbClr val="334155"/>
                    </a:solidFill>
                  </a:tcPr>
                </a:tc>
                <a:tc>
                  <a:txBody>
                    <a:bodyPr/>
                    <a:lstStyle/>
                    <a:p>
                      <a:pPr>
                        <a:defRPr sz="1200" b="1">
                          <a:solidFill>
                            <a:srgbClr val="F8FAFC"/>
                          </a:solidFill>
                        </a:defRPr>
                      </a:pPr>
                      <a:r>
                        <a:t>Base Model</a:t>
                      </a:r>
                    </a:p>
                  </a:txBody>
                  <a:tcPr>
                    <a:solidFill>
                      <a:srgbClr val="334155"/>
                    </a:solidFill>
                  </a:tcPr>
                </a:tc>
                <a:tc>
                  <a:txBody>
                    <a:bodyPr/>
                    <a:lstStyle/>
                    <a:p>
                      <a:pPr>
                        <a:defRPr sz="1200" b="1">
                          <a:solidFill>
                            <a:srgbClr val="F8FAFC"/>
                          </a:solidFill>
                        </a:defRPr>
                      </a:pPr>
                      <a:r>
                        <a:t>Full FT v2</a:t>
                      </a:r>
                    </a:p>
                  </a:txBody>
                  <a:tcPr>
                    <a:solidFill>
                      <a:srgbClr val="334155"/>
                    </a:solidFill>
                  </a:tcPr>
                </a:tc>
                <a:tc>
                  <a:txBody>
                    <a:bodyPr/>
                    <a:lstStyle/>
                    <a:p>
                      <a:pPr>
                        <a:defRPr sz="1200" b="1">
                          <a:solidFill>
                            <a:srgbClr val="F8FAFC"/>
                          </a:solidFill>
                        </a:defRPr>
                      </a:pPr>
                      <a:r>
                        <a:t>LoRA v2 (r=8)</a:t>
                      </a:r>
                    </a:p>
                  </a:txBody>
                  <a:tcPr>
                    <a:solidFill>
                      <a:srgbClr val="334155"/>
                    </a:solidFill>
                  </a:tcPr>
                </a:tc>
                <a:tc>
                  <a:txBody>
                    <a:bodyPr/>
                    <a:lstStyle/>
                    <a:p>
                      <a:pPr>
                        <a:defRPr sz="1200" b="1">
                          <a:solidFill>
                            <a:srgbClr val="F8FAFC"/>
                          </a:solidFill>
                        </a:defRPr>
                      </a:pPr>
                      <a:r>
                        <a:t>DoRA v2 (r=8)</a:t>
                      </a:r>
                    </a:p>
                  </a:txBody>
                  <a:tcPr>
                    <a:solidFill>
                      <a:srgbClr val="334155"/>
                    </a:solidFill>
                  </a:tcPr>
                </a:tc>
                <a:tc>
                  <a:txBody>
                    <a:bodyPr/>
                    <a:lstStyle/>
                    <a:p>
                      <a:pPr>
                        <a:defRPr sz="1200" b="1">
                          <a:solidFill>
                            <a:srgbClr val="F8FAFC"/>
                          </a:solidFill>
                        </a:defRPr>
                      </a:pPr>
                      <a:r>
                        <a:t>PEFT Advantage</a:t>
                      </a:r>
                    </a:p>
                  </a:txBody>
                  <a:tcPr>
                    <a:solidFill>
                      <a:srgbClr val="334155"/>
                    </a:solidFill>
                  </a:tcPr>
                </a:tc>
              </a:tr>
              <a:tr h="685800">
                <a:tc>
                  <a:txBody>
                    <a:bodyPr/>
                    <a:lstStyle/>
                    <a:p>
                      <a:pPr>
                        <a:defRPr sz="1100" b="1">
                          <a:solidFill>
                            <a:srgbClr val="38BDF8"/>
                          </a:solidFill>
                        </a:defRPr>
                      </a:pPr>
                      <a:r>
                        <a:t>Total Parameters</a:t>
                      </a:r>
                    </a:p>
                  </a:txBody>
                  <a:tcPr>
                    <a:solidFill>
                      <a:srgbClr val="1E293B"/>
                    </a:solidFill>
                  </a:tcPr>
                </a:tc>
                <a:tc>
                  <a:txBody>
                    <a:bodyPr/>
                    <a:lstStyle/>
                    <a:p>
                      <a:pPr>
                        <a:defRPr sz="1100">
                          <a:solidFill>
                            <a:srgbClr val="E2E8F0"/>
                          </a:solidFill>
                        </a:defRPr>
                      </a:pPr>
                      <a:r>
                        <a:t>109,483,778</a:t>
                      </a:r>
                    </a:p>
                  </a:txBody>
                  <a:tcPr>
                    <a:solidFill>
                      <a:srgbClr val="1E293B"/>
                    </a:solidFill>
                  </a:tcPr>
                </a:tc>
                <a:tc>
                  <a:txBody>
                    <a:bodyPr/>
                    <a:lstStyle/>
                    <a:p>
                      <a:pPr>
                        <a:defRPr sz="1100">
                          <a:solidFill>
                            <a:srgbClr val="E2E8F0"/>
                          </a:solidFill>
                        </a:defRPr>
                      </a:pPr>
                      <a:r>
                        <a:t>109,483,778</a:t>
                      </a:r>
                    </a:p>
                  </a:txBody>
                  <a:tcPr>
                    <a:solidFill>
                      <a:srgbClr val="1E293B"/>
                    </a:solidFill>
                  </a:tcPr>
                </a:tc>
                <a:tc>
                  <a:txBody>
                    <a:bodyPr/>
                    <a:lstStyle/>
                    <a:p>
                      <a:pPr>
                        <a:defRPr sz="1100">
                          <a:solidFill>
                            <a:srgbClr val="E2E8F0"/>
                          </a:solidFill>
                        </a:defRPr>
                      </a:pPr>
                      <a:r>
                        <a:t>109,780,228</a:t>
                      </a:r>
                    </a:p>
                  </a:txBody>
                  <a:tcPr>
                    <a:solidFill>
                      <a:srgbClr val="1E293B"/>
                    </a:solidFill>
                  </a:tcPr>
                </a:tc>
                <a:tc>
                  <a:txBody>
                    <a:bodyPr/>
                    <a:lstStyle/>
                    <a:p>
                      <a:pPr>
                        <a:defRPr sz="1100">
                          <a:solidFill>
                            <a:srgbClr val="E2E8F0"/>
                          </a:solidFill>
                        </a:defRPr>
                      </a:pPr>
                      <a:r>
                        <a:t>109,798,660</a:t>
                      </a:r>
                    </a:p>
                  </a:txBody>
                  <a:tcPr>
                    <a:solidFill>
                      <a:srgbClr val="1E293B"/>
                    </a:solidFill>
                  </a:tcPr>
                </a:tc>
                <a:tc>
                  <a:txBody>
                    <a:bodyPr/>
                    <a:lstStyle/>
                    <a:p>
                      <a:pPr>
                        <a:defRPr sz="1100">
                          <a:solidFill>
                            <a:srgbClr val="E2E8F0"/>
                          </a:solidFill>
                        </a:defRPr>
                      </a:pPr>
                      <a:r>
                        <a:t>Base weights shared</a:t>
                      </a:r>
                    </a:p>
                  </a:txBody>
                  <a:tcPr>
                    <a:solidFill>
                      <a:srgbClr val="1E293B"/>
                    </a:solidFill>
                  </a:tcPr>
                </a:tc>
              </a:tr>
              <a:tr h="685800">
                <a:tc>
                  <a:txBody>
                    <a:bodyPr/>
                    <a:lstStyle/>
                    <a:p>
                      <a:pPr>
                        <a:defRPr sz="1100" b="1">
                          <a:solidFill>
                            <a:srgbClr val="38BDF8"/>
                          </a:solidFill>
                        </a:defRPr>
                      </a:pPr>
                      <a:r>
                        <a:t>Trainable Parameters</a:t>
                      </a:r>
                    </a:p>
                  </a:txBody>
                  <a:tcPr>
                    <a:solidFill>
                      <a:srgbClr val="1E293B"/>
                    </a:solidFill>
                  </a:tcPr>
                </a:tc>
                <a:tc>
                  <a:txBody>
                    <a:bodyPr/>
                    <a:lstStyle/>
                    <a:p>
                      <a:pPr>
                        <a:defRPr sz="1100">
                          <a:solidFill>
                            <a:srgbClr val="E2E8F0"/>
                          </a:solidFill>
                        </a:defRPr>
                      </a:pPr>
                      <a:r>
                        <a:t>0 (Pre-trained)</a:t>
                      </a:r>
                    </a:p>
                  </a:txBody>
                  <a:tcPr>
                    <a:solidFill>
                      <a:srgbClr val="1E293B"/>
                    </a:solidFill>
                  </a:tcPr>
                </a:tc>
                <a:tc>
                  <a:txBody>
                    <a:bodyPr/>
                    <a:lstStyle/>
                    <a:p>
                      <a:pPr>
                        <a:defRPr sz="1100">
                          <a:solidFill>
                            <a:srgbClr val="E2E8F0"/>
                          </a:solidFill>
                        </a:defRPr>
                      </a:pPr>
                      <a:r>
                        <a:t>109,483,778 (100%)</a:t>
                      </a:r>
                    </a:p>
                  </a:txBody>
                  <a:tcPr>
                    <a:solidFill>
                      <a:srgbClr val="1E293B"/>
                    </a:solidFill>
                  </a:tcPr>
                </a:tc>
                <a:tc>
                  <a:txBody>
                    <a:bodyPr/>
                    <a:lstStyle/>
                    <a:p>
                      <a:pPr>
                        <a:defRPr sz="1100">
                          <a:solidFill>
                            <a:srgbClr val="E2E8F0"/>
                          </a:solidFill>
                        </a:defRPr>
                      </a:pPr>
                      <a:r>
                        <a:t>296,450 (0.27%)</a:t>
                      </a:r>
                    </a:p>
                  </a:txBody>
                  <a:tcPr>
                    <a:solidFill>
                      <a:srgbClr val="1E293B"/>
                    </a:solidFill>
                  </a:tcPr>
                </a:tc>
                <a:tc>
                  <a:txBody>
                    <a:bodyPr/>
                    <a:lstStyle/>
                    <a:p>
                      <a:pPr>
                        <a:defRPr sz="1100">
                          <a:solidFill>
                            <a:srgbClr val="E2E8F0"/>
                          </a:solidFill>
                        </a:defRPr>
                      </a:pPr>
                      <a:r>
                        <a:t>314,882 (0.29%)</a:t>
                      </a:r>
                    </a:p>
                  </a:txBody>
                  <a:tcPr>
                    <a:solidFill>
                      <a:srgbClr val="1E293B"/>
                    </a:solidFill>
                  </a:tcPr>
                </a:tc>
                <a:tc>
                  <a:txBody>
                    <a:bodyPr/>
                    <a:lstStyle/>
                    <a:p>
                      <a:pPr>
                        <a:defRPr sz="1100">
                          <a:solidFill>
                            <a:srgbClr val="E2E8F0"/>
                          </a:solidFill>
                        </a:defRPr>
                      </a:pPr>
                      <a:r>
                        <a:t>347x fewer params</a:t>
                      </a:r>
                    </a:p>
                  </a:txBody>
                  <a:tcPr>
                    <a:solidFill>
                      <a:srgbClr val="1E293B"/>
                    </a:solidFill>
                  </a:tcPr>
                </a:tc>
              </a:tr>
              <a:tr h="685800">
                <a:tc>
                  <a:txBody>
                    <a:bodyPr/>
                    <a:lstStyle/>
                    <a:p>
                      <a:pPr>
                        <a:defRPr sz="1100" b="1">
                          <a:solidFill>
                            <a:srgbClr val="38BDF8"/>
                          </a:solidFill>
                        </a:defRPr>
                      </a:pPr>
                      <a:r>
                        <a:t>Checkpoint Disk Size</a:t>
                      </a:r>
                    </a:p>
                  </a:txBody>
                  <a:tcPr>
                    <a:solidFill>
                      <a:srgbClr val="1E293B"/>
                    </a:solidFill>
                  </a:tcPr>
                </a:tc>
                <a:tc>
                  <a:txBody>
                    <a:bodyPr/>
                    <a:lstStyle/>
                    <a:p>
                      <a:pPr>
                        <a:defRPr sz="1100">
                          <a:solidFill>
                            <a:srgbClr val="E2E8F0"/>
                          </a:solidFill>
                        </a:defRPr>
                      </a:pPr>
                      <a:r>
                        <a:t>418.35 MB</a:t>
                      </a:r>
                    </a:p>
                  </a:txBody>
                  <a:tcPr>
                    <a:solidFill>
                      <a:srgbClr val="1E293B"/>
                    </a:solidFill>
                  </a:tcPr>
                </a:tc>
                <a:tc>
                  <a:txBody>
                    <a:bodyPr/>
                    <a:lstStyle/>
                    <a:p>
                      <a:pPr>
                        <a:defRPr sz="1100">
                          <a:solidFill>
                            <a:srgbClr val="E2E8F0"/>
                          </a:solidFill>
                        </a:defRPr>
                      </a:pPr>
                      <a:r>
                        <a:t>418.35 MB</a:t>
                      </a:r>
                    </a:p>
                  </a:txBody>
                  <a:tcPr>
                    <a:solidFill>
                      <a:srgbClr val="1E293B"/>
                    </a:solidFill>
                  </a:tcPr>
                </a:tc>
                <a:tc>
                  <a:txBody>
                    <a:bodyPr/>
                    <a:lstStyle/>
                    <a:p>
                      <a:pPr>
                        <a:defRPr sz="1100">
                          <a:solidFill>
                            <a:srgbClr val="E2E8F0"/>
                          </a:solidFill>
                        </a:defRPr>
                      </a:pPr>
                      <a:r>
                        <a:t>1.82 MB</a:t>
                      </a:r>
                    </a:p>
                  </a:txBody>
                  <a:tcPr>
                    <a:solidFill>
                      <a:srgbClr val="1E293B"/>
                    </a:solidFill>
                  </a:tcPr>
                </a:tc>
                <a:tc>
                  <a:txBody>
                    <a:bodyPr/>
                    <a:lstStyle/>
                    <a:p>
                      <a:pPr>
                        <a:defRPr sz="1100">
                          <a:solidFill>
                            <a:srgbClr val="E2E8F0"/>
                          </a:solidFill>
                        </a:defRPr>
                      </a:pPr>
                      <a:r>
                        <a:t>1.90 MB</a:t>
                      </a:r>
                    </a:p>
                  </a:txBody>
                  <a:tcPr>
                    <a:solidFill>
                      <a:srgbClr val="1E293B"/>
                    </a:solidFill>
                  </a:tcPr>
                </a:tc>
                <a:tc>
                  <a:txBody>
                    <a:bodyPr/>
                    <a:lstStyle/>
                    <a:p>
                      <a:pPr>
                        <a:defRPr sz="1100">
                          <a:solidFill>
                            <a:srgbClr val="E2E8F0"/>
                          </a:solidFill>
                        </a:defRPr>
                      </a:pPr>
                      <a:r>
                        <a:t>99.55% storage saved</a:t>
                      </a:r>
                    </a:p>
                  </a:txBody>
                  <a:tcPr>
                    <a:solidFill>
                      <a:srgbClr val="1E293B"/>
                    </a:solidFill>
                  </a:tcPr>
                </a:tc>
              </a:tr>
              <a:tr h="685800">
                <a:tc>
                  <a:txBody>
                    <a:bodyPr/>
                    <a:lstStyle/>
                    <a:p>
                      <a:pPr>
                        <a:defRPr sz="1100" b="1">
                          <a:solidFill>
                            <a:srgbClr val="38BDF8"/>
                          </a:solidFill>
                        </a:defRPr>
                      </a:pPr>
                      <a:r>
                        <a:t>CPU Training Time</a:t>
                      </a:r>
                    </a:p>
                  </a:txBody>
                  <a:tcPr>
                    <a:solidFill>
                      <a:srgbClr val="1E293B"/>
                    </a:solidFill>
                  </a:tcPr>
                </a:tc>
                <a:tc>
                  <a:txBody>
                    <a:bodyPr/>
                    <a:lstStyle/>
                    <a:p>
                      <a:pPr>
                        <a:defRPr sz="1100">
                          <a:solidFill>
                            <a:srgbClr val="E2E8F0"/>
                          </a:solidFill>
                        </a:defRPr>
                      </a:pPr>
                      <a:r>
                        <a:t>N/A</a:t>
                      </a:r>
                    </a:p>
                  </a:txBody>
                  <a:tcPr>
                    <a:solidFill>
                      <a:srgbClr val="1E293B"/>
                    </a:solidFill>
                  </a:tcPr>
                </a:tc>
                <a:tc>
                  <a:txBody>
                    <a:bodyPr/>
                    <a:lstStyle/>
                    <a:p>
                      <a:pPr>
                        <a:defRPr sz="1100">
                          <a:solidFill>
                            <a:srgbClr val="E2E8F0"/>
                          </a:solidFill>
                        </a:defRPr>
                      </a:pPr>
                      <a:r>
                        <a:t>2,519s (41m 59s)</a:t>
                      </a:r>
                    </a:p>
                  </a:txBody>
                  <a:tcPr>
                    <a:solidFill>
                      <a:srgbClr val="1E293B"/>
                    </a:solidFill>
                  </a:tcPr>
                </a:tc>
                <a:tc>
                  <a:txBody>
                    <a:bodyPr/>
                    <a:lstStyle/>
                    <a:p>
                      <a:pPr>
                        <a:defRPr sz="1100">
                          <a:solidFill>
                            <a:srgbClr val="E2E8F0"/>
                          </a:solidFill>
                        </a:defRPr>
                      </a:pPr>
                      <a:r>
                        <a:t>1,780s (29m 40s)</a:t>
                      </a:r>
                    </a:p>
                  </a:txBody>
                  <a:tcPr>
                    <a:solidFill>
                      <a:srgbClr val="1E293B"/>
                    </a:solidFill>
                  </a:tcPr>
                </a:tc>
                <a:tc>
                  <a:txBody>
                    <a:bodyPr/>
                    <a:lstStyle/>
                    <a:p>
                      <a:pPr>
                        <a:defRPr sz="1100">
                          <a:solidFill>
                            <a:srgbClr val="E2E8F0"/>
                          </a:solidFill>
                        </a:defRPr>
                      </a:pPr>
                      <a:r>
                        <a:t>1,999s (33m 19s)</a:t>
                      </a:r>
                    </a:p>
                  </a:txBody>
                  <a:tcPr>
                    <a:solidFill>
                      <a:srgbClr val="1E293B"/>
                    </a:solidFill>
                  </a:tcPr>
                </a:tc>
                <a:tc>
                  <a:txBody>
                    <a:bodyPr/>
                    <a:lstStyle/>
                    <a:p>
                      <a:pPr>
                        <a:defRPr sz="1100">
                          <a:solidFill>
                            <a:srgbClr val="E2E8F0"/>
                          </a:solidFill>
                        </a:defRPr>
                      </a:pPr>
                      <a:r>
                        <a:t>29% faster training</a:t>
                      </a:r>
                    </a:p>
                  </a:txBody>
                  <a:tcPr>
                    <a:solidFill>
                      <a:srgbClr val="1E293B"/>
                    </a:solidFill>
                  </a:tcPr>
                </a:tc>
              </a:tr>
              <a:tr h="685800">
                <a:tc>
                  <a:txBody>
                    <a:bodyPr/>
                    <a:lstStyle/>
                    <a:p>
                      <a:pPr>
                        <a:defRPr sz="1100" b="1">
                          <a:solidFill>
                            <a:srgbClr val="38BDF8"/>
                          </a:solidFill>
                        </a:defRPr>
                      </a:pPr>
                      <a:r>
                        <a:t>Training Setup</a:t>
                      </a:r>
                    </a:p>
                  </a:txBody>
                  <a:tcPr>
                    <a:solidFill>
                      <a:srgbClr val="1E293B"/>
                    </a:solidFill>
                  </a:tcPr>
                </a:tc>
                <a:tc>
                  <a:txBody>
                    <a:bodyPr/>
                    <a:lstStyle/>
                    <a:p>
                      <a:pPr>
                        <a:defRPr sz="1100">
                          <a:solidFill>
                            <a:srgbClr val="E2E8F0"/>
                          </a:solidFill>
                        </a:defRPr>
                      </a:pPr>
                      <a:r>
                        <a:t>bert-base-uncased</a:t>
                      </a:r>
                    </a:p>
                  </a:txBody>
                  <a:tcPr>
                    <a:solidFill>
                      <a:srgbClr val="1E293B"/>
                    </a:solidFill>
                  </a:tcPr>
                </a:tc>
                <a:tc>
                  <a:txBody>
                    <a:bodyPr/>
                    <a:lstStyle/>
                    <a:p>
                      <a:pPr>
                        <a:defRPr sz="1100">
                          <a:solidFill>
                            <a:srgbClr val="E2E8F0"/>
                          </a:solidFill>
                        </a:defRPr>
                      </a:pPr>
                      <a:r>
                        <a:t>1 Epoch, BS=2, GA=4</a:t>
                      </a:r>
                    </a:p>
                  </a:txBody>
                  <a:tcPr>
                    <a:solidFill>
                      <a:srgbClr val="1E293B"/>
                    </a:solidFill>
                  </a:tcPr>
                </a:tc>
                <a:tc>
                  <a:txBody>
                    <a:bodyPr/>
                    <a:lstStyle/>
                    <a:p>
                      <a:pPr>
                        <a:defRPr sz="1100">
                          <a:solidFill>
                            <a:srgbClr val="E2E8F0"/>
                          </a:solidFill>
                        </a:defRPr>
                      </a:pPr>
                      <a:r>
                        <a:t>1 Epoch, BS=2, GA=4</a:t>
                      </a:r>
                    </a:p>
                  </a:txBody>
                  <a:tcPr>
                    <a:solidFill>
                      <a:srgbClr val="1E293B"/>
                    </a:solidFill>
                  </a:tcPr>
                </a:tc>
                <a:tc>
                  <a:txBody>
                    <a:bodyPr/>
                    <a:lstStyle/>
                    <a:p>
                      <a:pPr>
                        <a:defRPr sz="1100">
                          <a:solidFill>
                            <a:srgbClr val="E2E8F0"/>
                          </a:solidFill>
                        </a:defRPr>
                      </a:pPr>
                      <a:r>
                        <a:t>1 Epoch, BS=2, GA=4</a:t>
                      </a:r>
                    </a:p>
                  </a:txBody>
                  <a:tcPr>
                    <a:solidFill>
                      <a:srgbClr val="1E293B"/>
                    </a:solidFill>
                  </a:tcPr>
                </a:tc>
                <a:tc>
                  <a:txBody>
                    <a:bodyPr/>
                    <a:lstStyle/>
                    <a:p>
                      <a:pPr>
                        <a:defRPr sz="1100">
                          <a:solidFill>
                            <a:srgbClr val="E2E8F0"/>
                          </a:solidFill>
                        </a:defRPr>
                      </a:pPr>
                      <a:r>
                        <a:t>Effective Batch Size=8</a:t>
                      </a:r>
                    </a:p>
                  </a:txBody>
                  <a:tcPr>
                    <a:solidFill>
                      <a:srgbClr val="1E293B"/>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SPAMADAPT RESEARCH PROJECT</a:t>
            </a:r>
          </a:p>
        </p:txBody>
      </p:sp>
      <p:sp>
        <p:nvSpPr>
          <p:cNvPr id="3" name="TextBox 2"/>
          <p:cNvSpPr txBox="1"/>
          <p:nvPr/>
        </p:nvSpPr>
        <p:spPr>
          <a:xfrm>
            <a:off x="731520" y="640080"/>
            <a:ext cx="10698480" cy="640080"/>
          </a:xfrm>
          <a:prstGeom prst="rect">
            <a:avLst/>
          </a:prstGeom>
          <a:noFill/>
        </p:spPr>
        <p:txBody>
          <a:bodyPr wrap="square">
            <a:spAutoFit/>
          </a:bodyPr>
          <a:lstStyle/>
          <a:p>
            <a:pPr>
              <a:defRPr sz="2400" b="1">
                <a:solidFill>
                  <a:srgbClr val="F8FAFC"/>
                </a:solidFill>
              </a:defRPr>
            </a:pPr>
            <a:r>
              <a:t>In-Distribution Benchmark: Preserved UCI Test Split (N=774)</a:t>
            </a:r>
          </a:p>
        </p:txBody>
      </p:sp>
      <p:sp>
        <p:nvSpPr>
          <p:cNvPr id="4" name="Rounded Rectangle 3"/>
          <p:cNvSpPr/>
          <p:nvPr/>
        </p:nvSpPr>
        <p:spPr>
          <a:xfrm>
            <a:off x="731520" y="146304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600" b="1">
                <a:solidFill>
                  <a:srgbClr val="818CF8"/>
                </a:solidFill>
              </a:defRPr>
            </a:pPr>
            <a:r>
              <a:t>Baseline v1 Models (Default tau = 0.50)</a:t>
            </a:r>
          </a:p>
          <a:p>
            <a:pPr>
              <a:defRPr sz="1150">
                <a:solidFill>
                  <a:srgbClr val="E2E8F0"/>
                </a:solidFill>
              </a:defRPr>
            </a:pPr>
            <a:r>
              <a:t>Full Fine-Tuning v1:</a:t>
            </a:r>
          </a:p>
          <a:p>
            <a:pPr>
              <a:defRPr sz="1150">
                <a:solidFill>
                  <a:srgbClr val="E2E8F0"/>
                </a:solidFill>
              </a:defRPr>
            </a:pPr>
            <a:r>
              <a:t>  • Accuracy: 98.45% | Macro F1: 96.40%</a:t>
            </a:r>
          </a:p>
          <a:p>
            <a:pPr>
              <a:defRPr sz="1150">
                <a:solidFill>
                  <a:srgbClr val="E2E8F0"/>
                </a:solidFill>
              </a:defRPr>
            </a:pPr>
            <a:r>
              <a:t>  • Confusion Matrix: TN: 673, FP: 4, FN: 8, TP: 89</a:t>
            </a:r>
          </a:p>
          <a:p>
            <a:pPr>
              <a:defRPr sz="1150">
                <a:solidFill>
                  <a:srgbClr val="E2E8F0"/>
                </a:solidFill>
              </a:defRPr>
            </a:pPr>
            <a:r>
              <a:t>LoRA v1 (r=8):</a:t>
            </a:r>
          </a:p>
          <a:p>
            <a:pPr>
              <a:defRPr sz="1150">
                <a:solidFill>
                  <a:srgbClr val="E2E8F0"/>
                </a:solidFill>
              </a:defRPr>
            </a:pPr>
            <a:r>
              <a:t>  • Accuracy: 98.32% | Macro F1: 96.12%</a:t>
            </a:r>
          </a:p>
          <a:p>
            <a:pPr>
              <a:defRPr sz="1150">
                <a:solidFill>
                  <a:srgbClr val="E2E8F0"/>
                </a:solidFill>
              </a:defRPr>
            </a:pPr>
            <a:r>
              <a:t>  • Confusion Matrix: TN: 672, FP: 5, FN: 8, TP: 89</a:t>
            </a:r>
          </a:p>
          <a:p>
            <a:pPr>
              <a:defRPr sz="1150">
                <a:solidFill>
                  <a:srgbClr val="E2E8F0"/>
                </a:solidFill>
              </a:defRPr>
            </a:pPr>
            <a:r>
              <a:t>DoRA v1 (r=8):</a:t>
            </a:r>
          </a:p>
          <a:p>
            <a:pPr>
              <a:defRPr sz="1150">
                <a:solidFill>
                  <a:srgbClr val="E2E8F0"/>
                </a:solidFill>
              </a:defRPr>
            </a:pPr>
            <a:r>
              <a:t>  • Accuracy: 98.19% | Macro F1: 95.84%</a:t>
            </a:r>
          </a:p>
          <a:p>
            <a:pPr>
              <a:defRPr sz="1150">
                <a:solidFill>
                  <a:srgbClr val="E2E8F0"/>
                </a:solidFill>
              </a:defRPr>
            </a:pPr>
            <a:r>
              <a:t>  • Confusion Matrix: TN: 671, FP: 6, FN: 8, TP: 89</a:t>
            </a:r>
          </a:p>
          <a:p>
            <a:pPr>
              <a:defRPr sz="1150">
                <a:solidFill>
                  <a:srgbClr val="E2E8F0"/>
                </a:solidFill>
              </a:defRPr>
            </a:pPr>
            <a:r>
              <a:t>Insight: On in-distribution personal SMS, all models perform exceptionally well (&gt;98% accuracy).</a:t>
            </a:r>
          </a:p>
        </p:txBody>
      </p:sp>
      <p:sp>
        <p:nvSpPr>
          <p:cNvPr id="6" name="Rounded Rectangle 5"/>
          <p:cNvSpPr/>
          <p:nvPr/>
        </p:nvSpPr>
        <p:spPr>
          <a:xfrm>
            <a:off x="6217920" y="146304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sz="1600" b="1">
                <a:solidFill>
                  <a:srgbClr val="34D399"/>
                </a:solidFill>
              </a:defRPr>
            </a:pPr>
            <a:r>
              <a:t>Retrained v2 Models (At Tuned Thresholds)</a:t>
            </a:r>
          </a:p>
          <a:p>
            <a:pPr>
              <a:defRPr sz="1150">
                <a:solidFill>
                  <a:srgbClr val="E2E8F0"/>
                </a:solidFill>
              </a:defRPr>
            </a:pPr>
            <a:r>
              <a:t>Full Fine-Tuning v2 (tau = 0.10):</a:t>
            </a:r>
          </a:p>
          <a:p>
            <a:pPr>
              <a:defRPr sz="1150">
                <a:solidFill>
                  <a:srgbClr val="E2E8F0"/>
                </a:solidFill>
              </a:defRPr>
            </a:pPr>
            <a:r>
              <a:t>  • Accuracy: 98.58% | Macro F1: 96.74%</a:t>
            </a:r>
          </a:p>
          <a:p>
            <a:pPr>
              <a:defRPr sz="1150">
                <a:solidFill>
                  <a:srgbClr val="E2E8F0"/>
                </a:solidFill>
              </a:defRPr>
            </a:pPr>
            <a:r>
              <a:t>  • Confusion Matrix: TN: 672, FP: 5, FN: 6, TP: 91</a:t>
            </a:r>
          </a:p>
          <a:p>
            <a:pPr>
              <a:defRPr sz="1150">
                <a:solidFill>
                  <a:srgbClr val="E2E8F0"/>
                </a:solidFill>
              </a:defRPr>
            </a:pPr>
            <a:r>
              <a:t>LoRA v2 (tau = 0.18):</a:t>
            </a:r>
          </a:p>
          <a:p>
            <a:pPr>
              <a:defRPr sz="1150">
                <a:solidFill>
                  <a:srgbClr val="E2E8F0"/>
                </a:solidFill>
              </a:defRPr>
            </a:pPr>
            <a:r>
              <a:t>  • Accuracy: 98.06% | Macro F1: 95.44%</a:t>
            </a:r>
          </a:p>
          <a:p>
            <a:pPr>
              <a:defRPr sz="1150">
                <a:solidFill>
                  <a:srgbClr val="E2E8F0"/>
                </a:solidFill>
              </a:defRPr>
            </a:pPr>
            <a:r>
              <a:t>  • Confusion Matrix: TN: 673, FP: 4, FN: 11, TP: 86</a:t>
            </a:r>
          </a:p>
          <a:p>
            <a:pPr>
              <a:defRPr sz="1150">
                <a:solidFill>
                  <a:srgbClr val="E2E8F0"/>
                </a:solidFill>
              </a:defRPr>
            </a:pPr>
            <a:r>
              <a:t>DoRA v2 (tau = 0.18):</a:t>
            </a:r>
          </a:p>
          <a:p>
            <a:pPr>
              <a:defRPr sz="1150">
                <a:solidFill>
                  <a:srgbClr val="E2E8F0"/>
                </a:solidFill>
              </a:defRPr>
            </a:pPr>
            <a:r>
              <a:t>  • Accuracy: 98.06% | Macro F1: 95.44%</a:t>
            </a:r>
          </a:p>
          <a:p>
            <a:pPr>
              <a:defRPr sz="1150">
                <a:solidFill>
                  <a:srgbClr val="E2E8F0"/>
                </a:solidFill>
              </a:defRPr>
            </a:pPr>
            <a:r>
              <a:t>  • Confusion Matrix: TN: 673, FP: 4, FN: 11, TP: 86</a:t>
            </a:r>
          </a:p>
          <a:p>
            <a:pPr>
              <a:defRPr sz="1150">
                <a:solidFill>
                  <a:srgbClr val="E2E8F0"/>
                </a:solidFill>
              </a:defRPr>
            </a:pPr>
            <a:r>
              <a:t>Retention Verified: Zero degradation on original distribution; domain adaptation did not cause catastrophic forgetting.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SPAMADAPT RESEARCH PROJECT</a:t>
            </a:r>
          </a:p>
        </p:txBody>
      </p:sp>
      <p:sp>
        <p:nvSpPr>
          <p:cNvPr id="3" name="TextBox 2"/>
          <p:cNvSpPr txBox="1"/>
          <p:nvPr/>
        </p:nvSpPr>
        <p:spPr>
          <a:xfrm>
            <a:off x="731520" y="640080"/>
            <a:ext cx="10698480" cy="640080"/>
          </a:xfrm>
          <a:prstGeom prst="rect">
            <a:avLst/>
          </a:prstGeom>
          <a:noFill/>
        </p:spPr>
        <p:txBody>
          <a:bodyPr wrap="square">
            <a:spAutoFit/>
          </a:bodyPr>
          <a:lstStyle/>
          <a:p>
            <a:pPr>
              <a:defRPr sz="2400" b="1">
                <a:solidFill>
                  <a:srgbClr val="F8FAFC"/>
                </a:solidFill>
              </a:defRPr>
            </a:pPr>
            <a:r>
              <a:t>External Benchmark Evaluation &amp; Category Analysis (N=220)</a:t>
            </a:r>
          </a:p>
        </p:txBody>
      </p:sp>
      <p:sp>
        <p:nvSpPr>
          <p:cNvPr id="4" name="Rounded Rectangle 3"/>
          <p:cNvSpPr/>
          <p:nvPr/>
        </p:nvSpPr>
        <p:spPr>
          <a:xfrm>
            <a:off x="731520" y="146304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600" b="1">
                <a:solidFill>
                  <a:srgbClr val="38BDF8"/>
                </a:solidFill>
              </a:defRPr>
            </a:pPr>
            <a:r>
              <a:t>Overall Benchmark Performance (N=220)</a:t>
            </a:r>
          </a:p>
          <a:p>
            <a:pPr>
              <a:defRPr sz="1100">
                <a:solidFill>
                  <a:srgbClr val="E2E8F0"/>
                </a:solidFill>
              </a:defRPr>
            </a:pPr>
            <a:r>
              <a:t>Full Fine-Tuning v2 (tau = 0.10):</a:t>
            </a:r>
          </a:p>
          <a:p>
            <a:pPr>
              <a:defRPr sz="1100">
                <a:solidFill>
                  <a:srgbClr val="E2E8F0"/>
                </a:solidFill>
              </a:defRPr>
            </a:pPr>
            <a:r>
              <a:t>  • Accuracy: 87.73% [95% CI: 82.7%, 91.4%]</a:t>
            </a:r>
          </a:p>
          <a:p>
            <a:pPr>
              <a:defRPr sz="1100">
                <a:solidFill>
                  <a:srgbClr val="E2E8F0"/>
                </a:solidFill>
              </a:defRPr>
            </a:pPr>
            <a:r>
              <a:t>  • Macro F1: 87.72%</a:t>
            </a:r>
          </a:p>
          <a:p>
            <a:pPr>
              <a:defRPr sz="1100">
                <a:solidFill>
                  <a:srgbClr val="E2E8F0"/>
                </a:solidFill>
              </a:defRPr>
            </a:pPr>
            <a:r>
              <a:t>  • HAM Recall: 90.00% (99/110) | SPAM Recall: 85.45% (94/110)</a:t>
            </a:r>
          </a:p>
          <a:p>
            <a:pPr>
              <a:defRPr sz="1100">
                <a:solidFill>
                  <a:srgbClr val="E2E8F0"/>
                </a:solidFill>
              </a:defRPr>
            </a:pPr>
            <a:r>
              <a:t>  • Errors: 27 total (11 FP, 16 FN)</a:t>
            </a:r>
          </a:p>
          <a:p>
            <a:pPr>
              <a:defRPr sz="1100">
                <a:solidFill>
                  <a:srgbClr val="E2E8F0"/>
                </a:solidFill>
              </a:defRPr>
            </a:pPr>
            <a:r>
              <a:t>LoRA v2 (tau = 0.18):</a:t>
            </a:r>
          </a:p>
          <a:p>
            <a:pPr>
              <a:defRPr sz="1100">
                <a:solidFill>
                  <a:srgbClr val="E2E8F0"/>
                </a:solidFill>
              </a:defRPr>
            </a:pPr>
            <a:r>
              <a:t>  • Accuracy: 76.82% [95% CI: 70.8%, 81.9%]</a:t>
            </a:r>
          </a:p>
          <a:p>
            <a:pPr>
              <a:defRPr sz="1100">
                <a:solidFill>
                  <a:srgbClr val="E2E8F0"/>
                </a:solidFill>
              </a:defRPr>
            </a:pPr>
            <a:r>
              <a:t>  • Macro F1: 76.81%</a:t>
            </a:r>
          </a:p>
          <a:p>
            <a:pPr>
              <a:defRPr sz="1100">
                <a:solidFill>
                  <a:srgbClr val="E2E8F0"/>
                </a:solidFill>
              </a:defRPr>
            </a:pPr>
            <a:r>
              <a:t>  • HAM Recall: 74.55% (82/110) | SPAM Recall: 79.09% (87/110)</a:t>
            </a:r>
          </a:p>
          <a:p>
            <a:pPr>
              <a:defRPr sz="1100">
                <a:solidFill>
                  <a:srgbClr val="E2E8F0"/>
                </a:solidFill>
              </a:defRPr>
            </a:pPr>
            <a:r>
              <a:t>  • Errors: 51 total (28 FP, 23 FN)</a:t>
            </a:r>
          </a:p>
          <a:p>
            <a:pPr>
              <a:defRPr sz="1100">
                <a:solidFill>
                  <a:srgbClr val="E2E8F0"/>
                </a:solidFill>
              </a:defRPr>
            </a:pPr>
            <a:r>
              <a:t>DoRA v2 (tau = 0.18):</a:t>
            </a:r>
          </a:p>
          <a:p>
            <a:pPr>
              <a:defRPr sz="1100">
                <a:solidFill>
                  <a:srgbClr val="E2E8F0"/>
                </a:solidFill>
              </a:defRPr>
            </a:pPr>
            <a:r>
              <a:t>  • Accuracy: 77.73% [95% CI: 71.8%, 82.7%]</a:t>
            </a:r>
          </a:p>
          <a:p>
            <a:pPr>
              <a:defRPr sz="1100">
                <a:solidFill>
                  <a:srgbClr val="E2E8F0"/>
                </a:solidFill>
              </a:defRPr>
            </a:pPr>
            <a:r>
              <a:t>  • Macro F1: 77.72%</a:t>
            </a:r>
          </a:p>
          <a:p>
            <a:pPr>
              <a:defRPr sz="1100">
                <a:solidFill>
                  <a:srgbClr val="E2E8F0"/>
                </a:solidFill>
              </a:defRPr>
            </a:pPr>
            <a:r>
              <a:t>  • HAM Recall: 76.36% (84/110) | SPAM Recall: 79.09% (87/110)</a:t>
            </a:r>
          </a:p>
          <a:p>
            <a:pPr>
              <a:defRPr sz="1100">
                <a:solidFill>
                  <a:srgbClr val="E2E8F0"/>
                </a:solidFill>
              </a:defRPr>
            </a:pPr>
            <a:r>
              <a:t>  • Errors: 49 total (26 FP, 23 FN)</a:t>
            </a:r>
          </a:p>
        </p:txBody>
      </p:sp>
      <p:sp>
        <p:nvSpPr>
          <p:cNvPr id="6" name="Rounded Rectangle 5"/>
          <p:cNvSpPr/>
          <p:nvPr/>
        </p:nvSpPr>
        <p:spPr>
          <a:xfrm>
            <a:off x="6217920" y="146304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sz="1600" b="1">
                <a:solidFill>
                  <a:srgbClr val="F59E0B"/>
                </a:solidFill>
              </a:defRPr>
            </a:pPr>
            <a:r>
              <a:t>Category Diagnostics &amp; Bottlenecks</a:t>
            </a:r>
          </a:p>
          <a:p>
            <a:pPr>
              <a:defRPr sz="1100">
                <a:solidFill>
                  <a:srgbClr val="E2E8F0"/>
                </a:solidFill>
              </a:defRPr>
            </a:pPr>
            <a:r>
              <a:t>High Performing Categories (HAM &amp; SPAM):</a:t>
            </a:r>
          </a:p>
          <a:p>
            <a:pPr>
              <a:defRPr sz="1100">
                <a:solidFill>
                  <a:srgbClr val="E2E8F0"/>
                </a:solidFill>
              </a:defRPr>
            </a:pPr>
            <a:r>
              <a:t>  • Personal Conversations: 100% Accuracy across all models.</a:t>
            </a:r>
          </a:p>
          <a:p>
            <a:pPr>
              <a:defRPr sz="1100">
                <a:solidFill>
                  <a:srgbClr val="E2E8F0"/>
                </a:solidFill>
              </a:defRPr>
            </a:pPr>
            <a:r>
              <a:t>  • Appointment/Account: 100% Accuracy (15/15 HAM).</a:t>
            </a:r>
          </a:p>
          <a:p>
            <a:pPr>
              <a:defRPr sz="1100">
                <a:solidFill>
                  <a:srgbClr val="E2E8F0"/>
                </a:solidFill>
              </a:defRPr>
            </a:pPr>
            <a:r>
              <a:t>  • Telecom Service: 86.7% - 93.3% Accuracy.</a:t>
            </a:r>
          </a:p>
          <a:p>
            <a:pPr>
              <a:defRPr sz="1100">
                <a:solidFill>
                  <a:srgbClr val="E2E8F0"/>
                </a:solidFill>
              </a:defRPr>
            </a:pPr>
            <a:r>
              <a:t>  • Phishing Credential Theft: 84.0% - 92.0% Recall.</a:t>
            </a:r>
          </a:p>
          <a:p>
            <a:pPr>
              <a:defRPr sz="1100">
                <a:solidFill>
                  <a:srgbClr val="E2E8F0"/>
                </a:solidFill>
              </a:defRPr>
            </a:pPr>
            <a:r>
              <a:t>The Legitimate Promotional Bottleneck:</a:t>
            </a:r>
          </a:p>
          <a:p>
            <a:pPr>
              <a:defRPr sz="1100">
                <a:solidFill>
                  <a:srgbClr val="E2E8F0"/>
                </a:solidFill>
              </a:defRPr>
            </a:pPr>
            <a:r>
              <a:t>  • Legitimate brand offers (Zomato, Swiggy, Myntra) failed at 60%–70% across all models.</a:t>
            </a:r>
          </a:p>
          <a:p>
            <a:pPr>
              <a:defRPr sz="1100">
                <a:solidFill>
                  <a:srgbClr val="E2E8F0"/>
                </a:solidFill>
              </a:defRPr>
            </a:pPr>
            <a:r>
              <a:t>  • Root Cause: Promotional texts share identical vocabulary with spam ('FLAT 50% OFF', 'USE CODE', 'EXPIRING TODAY').</a:t>
            </a:r>
          </a:p>
          <a:p>
            <a:pPr>
              <a:defRPr sz="1100">
                <a:solidFill>
                  <a:srgbClr val="E2E8F0"/>
                </a:solidFill>
              </a:defRPr>
            </a:pPr>
            <a:r>
              <a:t>Critical Finding: Text-only NLP cannot reliably separate spam from legitimate marketing without sender identity metadata.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SPAMADAPT RESEARCH PROJECT</a:t>
            </a:r>
          </a:p>
        </p:txBody>
      </p:sp>
      <p:sp>
        <p:nvSpPr>
          <p:cNvPr id="3" name="TextBox 2"/>
          <p:cNvSpPr txBox="1"/>
          <p:nvPr/>
        </p:nvSpPr>
        <p:spPr>
          <a:xfrm>
            <a:off x="731520" y="640080"/>
            <a:ext cx="10698480" cy="640080"/>
          </a:xfrm>
          <a:prstGeom prst="rect">
            <a:avLst/>
          </a:prstGeom>
          <a:noFill/>
        </p:spPr>
        <p:txBody>
          <a:bodyPr wrap="square">
            <a:spAutoFit/>
          </a:bodyPr>
          <a:lstStyle/>
          <a:p>
            <a:pPr>
              <a:defRPr sz="2400" b="1">
                <a:solidFill>
                  <a:srgbClr val="F8FAFC"/>
                </a:solidFill>
              </a:defRPr>
            </a:pPr>
            <a:r>
              <a:t>Adversarial Robustness &amp; Abstention Architecture</a:t>
            </a:r>
          </a:p>
        </p:txBody>
      </p:sp>
      <p:sp>
        <p:nvSpPr>
          <p:cNvPr id="4" name="Rounded Rectangle 3"/>
          <p:cNvSpPr/>
          <p:nvPr/>
        </p:nvSpPr>
        <p:spPr>
          <a:xfrm>
            <a:off x="731520" y="146304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600" b="1">
                <a:solidFill>
                  <a:srgbClr val="818CF8"/>
                </a:solidFill>
              </a:defRPr>
            </a:pPr>
            <a:r>
              <a:t>Robustness Perturbations (40 Evals)</a:t>
            </a:r>
          </a:p>
          <a:p>
            <a:pPr>
              <a:defRPr sz="1150">
                <a:solidFill>
                  <a:srgbClr val="E2E8F0"/>
                </a:solidFill>
              </a:defRPr>
            </a:pPr>
            <a:r>
              <a:t>Tested 40 controlled perturbations from 10 baseline messages across 7 categories:</a:t>
            </a:r>
          </a:p>
          <a:p>
            <a:pPr>
              <a:defRPr sz="1150">
                <a:solidFill>
                  <a:srgbClr val="E2E8F0"/>
                </a:solidFill>
              </a:defRPr>
            </a:pPr>
            <a:r>
              <a:t>• Casing Invariance (ALL-CAPS / all-lower):</a:t>
            </a:r>
          </a:p>
          <a:p>
            <a:pPr>
              <a:defRPr sz="1150">
                <a:solidFill>
                  <a:srgbClr val="E2E8F0"/>
                </a:solidFill>
              </a:defRPr>
            </a:pPr>
            <a:r>
              <a:t>  100.0% consistency (delta P = 0.0000) due to BERT uncased tokenizer.</a:t>
            </a:r>
          </a:p>
          <a:p>
            <a:pPr>
              <a:defRPr sz="1150">
                <a:solidFill>
                  <a:srgbClr val="E2E8F0"/>
                </a:solidFill>
              </a:defRPr>
            </a:pPr>
            <a:r>
              <a:t>• Whitespace &amp; Punctuation:</a:t>
            </a:r>
          </a:p>
          <a:p>
            <a:pPr>
              <a:defRPr sz="1150">
                <a:solidFill>
                  <a:srgbClr val="E2E8F0"/>
                </a:solidFill>
              </a:defRPr>
            </a:pPr>
            <a:r>
              <a:t>  75.0% - 87.5% consistency.</a:t>
            </a:r>
          </a:p>
          <a:p>
            <a:pPr>
              <a:defRPr sz="1150">
                <a:solidFill>
                  <a:srgbClr val="E2E8F0"/>
                </a:solidFill>
              </a:defRPr>
            </a:pPr>
            <a:r>
              <a:t>• Code-Switching (Hinglish):</a:t>
            </a:r>
          </a:p>
          <a:p>
            <a:pPr>
              <a:defRPr sz="1150">
                <a:solidFill>
                  <a:srgbClr val="E2E8F0"/>
                </a:solidFill>
              </a:defRPr>
            </a:pPr>
            <a:r>
              <a:t>  66.7% consistency.</a:t>
            </a:r>
          </a:p>
          <a:p>
            <a:pPr>
              <a:defRPr sz="1150">
                <a:solidFill>
                  <a:srgbClr val="E2E8F0"/>
                </a:solidFill>
              </a:defRPr>
            </a:pPr>
            <a:r>
              <a:t>• Bracket Redaction Markers ('[PHONE]', '[LINK]'):</a:t>
            </a:r>
          </a:p>
          <a:p>
            <a:pPr>
              <a:defRPr sz="1150">
                <a:solidFill>
                  <a:srgbClr val="E2E8F0"/>
                </a:solidFill>
              </a:defRPr>
            </a:pPr>
            <a:r>
              <a:t>  Only 50.0% consistency; mean score shift = 0.5357.</a:t>
            </a:r>
          </a:p>
          <a:p>
            <a:pPr>
              <a:defRPr sz="1150">
                <a:solidFill>
                  <a:srgbClr val="E2E8F0"/>
                </a:solidFill>
              </a:defRPr>
            </a:pPr>
            <a:r>
              <a:t>Takeaway: Replacing links with bracketed tokens shatters WordPiece subwords, flipping model confidence.</a:t>
            </a:r>
          </a:p>
        </p:txBody>
      </p:sp>
      <p:sp>
        <p:nvSpPr>
          <p:cNvPr id="6" name="Rounded Rectangle 5"/>
          <p:cNvSpPr/>
          <p:nvPr/>
        </p:nvSpPr>
        <p:spPr>
          <a:xfrm>
            <a:off x="6217920" y="146304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sz="1600" b="1">
                <a:solidFill>
                  <a:srgbClr val="34D399"/>
                </a:solidFill>
              </a:defRPr>
            </a:pPr>
            <a:r>
              <a:t>Three-Tier Abstention Policy</a:t>
            </a:r>
          </a:p>
          <a:p>
            <a:pPr>
              <a:defRPr sz="1150">
                <a:solidFill>
                  <a:srgbClr val="E2E8F0"/>
                </a:solidFill>
              </a:defRPr>
            </a:pPr>
            <a:r>
              <a:t>Derived on Validation Data (config/abstention_policy.json):</a:t>
            </a:r>
          </a:p>
          <a:p>
            <a:pPr>
              <a:defRPr sz="1150">
                <a:solidFill>
                  <a:srgbClr val="E2E8F0"/>
                </a:solidFill>
              </a:defRPr>
            </a:pPr>
            <a:r>
              <a:t>1. HAM (Safe Delivery):</a:t>
            </a:r>
          </a:p>
          <a:p>
            <a:pPr>
              <a:defRPr sz="1150">
                <a:solidFill>
                  <a:srgbClr val="E2E8F0"/>
                </a:solidFill>
              </a:defRPr>
            </a:pPr>
            <a:r>
              <a:t>   • Full FT: P &lt; 0.05 | LoRA/DoRA: P &lt; 0.08</a:t>
            </a:r>
          </a:p>
          <a:p>
            <a:pPr>
              <a:defRPr sz="1150">
                <a:solidFill>
                  <a:srgbClr val="E2E8F0"/>
                </a:solidFill>
              </a:defRPr>
            </a:pPr>
            <a:r>
              <a:t>   • Automated inbox delivery without warning.</a:t>
            </a:r>
          </a:p>
          <a:p>
            <a:pPr>
              <a:defRPr sz="1150">
                <a:solidFill>
                  <a:srgbClr val="E2E8F0"/>
                </a:solidFill>
              </a:defRPr>
            </a:pPr>
            <a:r>
              <a:t>2. SUSPECTED_SPAM (Threat Filtered):</a:t>
            </a:r>
          </a:p>
          <a:p>
            <a:pPr>
              <a:defRPr sz="1150">
                <a:solidFill>
                  <a:srgbClr val="E2E8F0"/>
                </a:solidFill>
              </a:defRPr>
            </a:pPr>
            <a:r>
              <a:t>   • Full FT: P &gt;= 0.35 | LoRA/DoRA: P &gt;= 0.45</a:t>
            </a:r>
          </a:p>
          <a:p>
            <a:pPr>
              <a:defRPr sz="1150">
                <a:solidFill>
                  <a:srgbClr val="E2E8F0"/>
                </a:solidFill>
              </a:defRPr>
            </a:pPr>
            <a:r>
              <a:t>   • Automated quarantine / spam folder routing.</a:t>
            </a:r>
          </a:p>
          <a:p>
            <a:pPr>
              <a:defRPr sz="1150">
                <a:solidFill>
                  <a:srgbClr val="E2E8F0"/>
                </a:solidFill>
              </a:defRPr>
            </a:pPr>
            <a:r>
              <a:t>3. REVIEW_REQUIRED (Ambiguous / Boundary):</a:t>
            </a:r>
          </a:p>
          <a:p>
            <a:pPr>
              <a:defRPr sz="1150">
                <a:solidFill>
                  <a:srgbClr val="E2E8F0"/>
                </a:solidFill>
              </a:defRPr>
            </a:pPr>
            <a:r>
              <a:t>   • Full FT: [0.05, 0.35) | LoRA/DoRA: [0.08, 0.45)</a:t>
            </a:r>
          </a:p>
          <a:p>
            <a:pPr>
              <a:defRPr sz="1150">
                <a:solidFill>
                  <a:srgbClr val="E2E8F0"/>
                </a:solidFill>
              </a:defRPr>
            </a:pPr>
            <a:r>
              <a:t>   • Flagged for secondary human triage or user warning.</a:t>
            </a:r>
          </a:p>
          <a:p>
            <a:pPr>
              <a:defRPr sz="1150">
                <a:solidFill>
                  <a:srgbClr val="E2E8F0"/>
                </a:solidFill>
              </a:defRPr>
            </a:pPr>
            <a:r>
              <a:t>Zero Blind Blocking: Protects users from high-risk false positives.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SPAMADAPT RESEARCH PROJECT</a:t>
            </a:r>
          </a:p>
        </p:txBody>
      </p:sp>
      <p:sp>
        <p:nvSpPr>
          <p:cNvPr id="3" name="TextBox 2"/>
          <p:cNvSpPr txBox="1"/>
          <p:nvPr/>
        </p:nvSpPr>
        <p:spPr>
          <a:xfrm>
            <a:off x="731520" y="640080"/>
            <a:ext cx="10698480" cy="640080"/>
          </a:xfrm>
          <a:prstGeom prst="rect">
            <a:avLst/>
          </a:prstGeom>
          <a:noFill/>
        </p:spPr>
        <p:txBody>
          <a:bodyPr wrap="square">
            <a:spAutoFit/>
          </a:bodyPr>
          <a:lstStyle/>
          <a:p>
            <a:pPr>
              <a:defRPr sz="2400" b="1">
                <a:solidFill>
                  <a:srgbClr val="F8FAFC"/>
                </a:solidFill>
              </a:defRPr>
            </a:pPr>
            <a:r>
              <a:t>Streamlit Inference Application: Engineering Highlights</a:t>
            </a:r>
          </a:p>
        </p:txBody>
      </p:sp>
      <p:sp>
        <p:nvSpPr>
          <p:cNvPr id="4" name="Rounded Rectangle 3"/>
          <p:cNvSpPr/>
          <p:nvPr/>
        </p:nvSpPr>
        <p:spPr>
          <a:xfrm>
            <a:off x="731520" y="1645920"/>
            <a:ext cx="52120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846320" cy="1828800"/>
          </a:xfrm>
          <a:prstGeom prst="rect">
            <a:avLst/>
          </a:prstGeom>
          <a:noFill/>
        </p:spPr>
        <p:txBody>
          <a:bodyPr wrap="square">
            <a:spAutoFit/>
          </a:bodyPr>
          <a:lstStyle/>
          <a:p>
            <a:pPr>
              <a:defRPr sz="1600" b="1">
                <a:solidFill>
                  <a:srgbClr val="38BDF8"/>
                </a:solidFill>
              </a:defRPr>
            </a:pPr>
            <a:r>
              <a:t>Dynamic Model Selection</a:t>
            </a:r>
          </a:p>
          <a:p>
            <a:br/>
            <a:pPr>
              <a:defRPr sz="1250">
                <a:solidFill>
                  <a:srgbClr val="E2E8F0"/>
                </a:solidFill>
              </a:defRPr>
            </a:pPr>
            <a:r>
              <a:t>Interactive switching between Full Fine-Tuning v2, LoRA v2, and DoRA v2 without server restarts. Models cached via @st.cache_resource.</a:t>
            </a:r>
          </a:p>
        </p:txBody>
      </p:sp>
      <p:sp>
        <p:nvSpPr>
          <p:cNvPr id="6" name="Rounded Rectangle 5"/>
          <p:cNvSpPr/>
          <p:nvPr/>
        </p:nvSpPr>
        <p:spPr>
          <a:xfrm>
            <a:off x="6217920" y="1645920"/>
            <a:ext cx="52120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846320" cy="1828800"/>
          </a:xfrm>
          <a:prstGeom prst="rect">
            <a:avLst/>
          </a:prstGeom>
          <a:noFill/>
        </p:spPr>
        <p:txBody>
          <a:bodyPr wrap="square">
            <a:spAutoFit/>
          </a:bodyPr>
          <a:lstStyle/>
          <a:p>
            <a:pPr>
              <a:defRPr sz="1600" b="1">
                <a:solidFill>
                  <a:srgbClr val="34D399"/>
                </a:solidFill>
              </a:defRPr>
            </a:pPr>
            <a:r>
              <a:t>Strict Volatile Memory Invariant</a:t>
            </a:r>
          </a:p>
          <a:p>
            <a:br/>
            <a:pPr>
              <a:defRPr sz="1250">
                <a:solidFill>
                  <a:srgbClr val="E2E8F0"/>
                </a:solidFill>
              </a:defRPr>
            </a:pPr>
            <a:r>
              <a:t>Zero user SMS logging. Messages processed exclusively in volatile RAM. No disk writes, telemetry captures, or SQL databases.</a:t>
            </a:r>
          </a:p>
        </p:txBody>
      </p:sp>
      <p:sp>
        <p:nvSpPr>
          <p:cNvPr id="8" name="Rounded Rectangle 7"/>
          <p:cNvSpPr/>
          <p:nvPr/>
        </p:nvSpPr>
        <p:spPr>
          <a:xfrm>
            <a:off x="731520" y="4023360"/>
            <a:ext cx="52120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60520"/>
            <a:ext cx="4846320" cy="1828800"/>
          </a:xfrm>
          <a:prstGeom prst="rect">
            <a:avLst/>
          </a:prstGeom>
          <a:noFill/>
        </p:spPr>
        <p:txBody>
          <a:bodyPr wrap="square">
            <a:spAutoFit/>
          </a:bodyPr>
          <a:lstStyle/>
          <a:p>
            <a:pPr>
              <a:defRPr sz="1600" b="1">
                <a:solidFill>
                  <a:srgbClr val="F59E0B"/>
                </a:solidFill>
              </a:defRPr>
            </a:pPr>
            <a:r>
              <a:t>Visual Three-Tier Status Banners</a:t>
            </a:r>
          </a:p>
          <a:p>
            <a:br/>
            <a:pPr>
              <a:defRPr sz="1250">
                <a:solidFill>
                  <a:srgbClr val="E2E8F0"/>
                </a:solidFill>
              </a:defRPr>
            </a:pPr>
            <a:r>
              <a:t>Distinct visual UI banners: Emerald for HAM, Crimson for SUSPECTED_SPAM, and Amber for REVIEW_REQUIRED.</a:t>
            </a:r>
          </a:p>
        </p:txBody>
      </p:sp>
      <p:sp>
        <p:nvSpPr>
          <p:cNvPr id="10" name="Rounded Rectangle 9"/>
          <p:cNvSpPr/>
          <p:nvPr/>
        </p:nvSpPr>
        <p:spPr>
          <a:xfrm>
            <a:off x="6217920" y="4023360"/>
            <a:ext cx="52120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160520"/>
            <a:ext cx="4846320" cy="1828800"/>
          </a:xfrm>
          <a:prstGeom prst="rect">
            <a:avLst/>
          </a:prstGeom>
          <a:noFill/>
        </p:spPr>
        <p:txBody>
          <a:bodyPr wrap="square">
            <a:spAutoFit/>
          </a:bodyPr>
          <a:lstStyle/>
          <a:p>
            <a:pPr>
              <a:defRPr sz="1600" b="1">
                <a:solidFill>
                  <a:srgbClr val="F43F5E"/>
                </a:solidFill>
              </a:defRPr>
            </a:pPr>
            <a:r>
              <a:t>Truthful Metric Labeling</a:t>
            </a:r>
          </a:p>
          <a:p>
            <a:br/>
            <a:pPr>
              <a:defRPr sz="1250">
                <a:solidFill>
                  <a:srgbClr val="E2E8F0"/>
                </a:solidFill>
              </a:defRPr>
            </a:pPr>
            <a:r>
              <a:t>Explicit labeling of 'Estimated Model Score / Pseudo-Probability' with on-screen disclaimer that scores are not legal proof of fraud.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SPAMADAPT RESEARCH PROJECT</a:t>
            </a:r>
          </a:p>
        </p:txBody>
      </p:sp>
      <p:sp>
        <p:nvSpPr>
          <p:cNvPr id="3" name="TextBox 2"/>
          <p:cNvSpPr txBox="1"/>
          <p:nvPr/>
        </p:nvSpPr>
        <p:spPr>
          <a:xfrm>
            <a:off x="731520" y="640080"/>
            <a:ext cx="10698480" cy="640080"/>
          </a:xfrm>
          <a:prstGeom prst="rect">
            <a:avLst/>
          </a:prstGeom>
          <a:noFill/>
        </p:spPr>
        <p:txBody>
          <a:bodyPr wrap="square">
            <a:spAutoFit/>
          </a:bodyPr>
          <a:lstStyle/>
          <a:p>
            <a:pPr>
              <a:defRPr sz="2400" b="1">
                <a:solidFill>
                  <a:srgbClr val="F8FAFC"/>
                </a:solidFill>
              </a:defRPr>
            </a:pPr>
            <a:r>
              <a:t>Honest Limitations &amp; Next-Generation Roadmap</a:t>
            </a:r>
          </a:p>
        </p:txBody>
      </p:sp>
      <p:sp>
        <p:nvSpPr>
          <p:cNvPr id="4" name="Rounded Rectangle 3"/>
          <p:cNvSpPr/>
          <p:nvPr/>
        </p:nvSpPr>
        <p:spPr>
          <a:xfrm>
            <a:off x="731520" y="146304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600" b="1">
                <a:solidFill>
                  <a:srgbClr val="F43F5E"/>
                </a:solidFill>
              </a:defRPr>
            </a:pPr>
            <a:r>
              <a:t>Documented Technical Limitations</a:t>
            </a:r>
          </a:p>
          <a:p>
            <a:pPr>
              <a:defRPr sz="1150">
                <a:solidFill>
                  <a:srgbClr val="E2E8F0"/>
                </a:solidFill>
              </a:defRPr>
            </a:pPr>
            <a:r>
              <a:t>1. Text-Only Ambiguity:</a:t>
            </a:r>
          </a:p>
          <a:p>
            <a:pPr>
              <a:defRPr sz="1150">
                <a:solidFill>
                  <a:srgbClr val="E2E8F0"/>
                </a:solidFill>
              </a:defRPr>
            </a:pPr>
            <a:r>
              <a:t>   Cannot distinguish legitimate marketing from spam without telecom headers.</a:t>
            </a:r>
          </a:p>
          <a:p>
            <a:pPr>
              <a:defRPr sz="1150">
                <a:solidFill>
                  <a:srgbClr val="E2E8F0"/>
                </a:solidFill>
              </a:defRPr>
            </a:pPr>
            <a:r>
              <a:t>2. Language &amp; Script Boundary:</a:t>
            </a:r>
          </a:p>
          <a:p>
            <a:pPr>
              <a:defRPr sz="1150">
                <a:solidFill>
                  <a:srgbClr val="E2E8F0"/>
                </a:solidFill>
              </a:defRPr>
            </a:pPr>
            <a:r>
              <a:t>   Optimized for English &amp; Romanized Hinglish. Cannot process Devanagari, Tamil, or Bengali scripts.</a:t>
            </a:r>
          </a:p>
          <a:p>
            <a:pPr>
              <a:defRPr sz="1150">
                <a:solidFill>
                  <a:srgbClr val="E2E8F0"/>
                </a:solidFill>
              </a:defRPr>
            </a:pPr>
            <a:r>
              <a:t>3. Tokenizer Brittleness:</a:t>
            </a:r>
          </a:p>
          <a:p>
            <a:pPr>
              <a:defRPr sz="1150">
                <a:solidFill>
                  <a:srgbClr val="E2E8F0"/>
                </a:solidFill>
              </a:defRPr>
            </a:pPr>
            <a:r>
              <a:t>   Adversarial bracket tokens ([LINK], [PHONE]) degrade subword representations.</a:t>
            </a:r>
          </a:p>
          <a:p>
            <a:pPr>
              <a:defRPr sz="1150">
                <a:solidFill>
                  <a:srgbClr val="E2E8F0"/>
                </a:solidFill>
              </a:defRPr>
            </a:pPr>
            <a:r>
              <a:t>4. Prototype Status:</a:t>
            </a:r>
          </a:p>
          <a:p>
            <a:pPr>
              <a:defRPr sz="1150">
                <a:solidFill>
                  <a:srgbClr val="E2E8F0"/>
                </a:solidFill>
              </a:defRPr>
            </a:pPr>
            <a:r>
              <a:t>   Validated for supervised academic demonstration; not certified for unmonitored telco production.</a:t>
            </a:r>
          </a:p>
        </p:txBody>
      </p:sp>
      <p:sp>
        <p:nvSpPr>
          <p:cNvPr id="6" name="Rounded Rectangle 5"/>
          <p:cNvSpPr/>
          <p:nvPr/>
        </p:nvSpPr>
        <p:spPr>
          <a:xfrm>
            <a:off x="6217920" y="146304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sz="1600" b="1">
                <a:solidFill>
                  <a:srgbClr val="38BDF8"/>
                </a:solidFill>
              </a:defRPr>
            </a:pPr>
            <a:r>
              <a:t>Research &amp; Engineering Roadmap</a:t>
            </a:r>
          </a:p>
          <a:p>
            <a:pPr>
              <a:defRPr sz="1150">
                <a:solidFill>
                  <a:srgbClr val="E2E8F0"/>
                </a:solidFill>
              </a:defRPr>
            </a:pPr>
            <a:r>
              <a:t>1. TRAI DLT Header Integration:</a:t>
            </a:r>
          </a:p>
          <a:p>
            <a:pPr>
              <a:defRPr sz="1150">
                <a:solidFill>
                  <a:srgbClr val="E2E8F0"/>
                </a:solidFill>
              </a:defRPr>
            </a:pPr>
            <a:r>
              <a:t>   Fuse alphanumeric sender headers (e.g., 'AX-HDFCBK' vs '+919876543210') into multi-modal classification heads.</a:t>
            </a:r>
          </a:p>
          <a:p>
            <a:pPr>
              <a:defRPr sz="1150">
                <a:solidFill>
                  <a:srgbClr val="E2E8F0"/>
                </a:solidFill>
              </a:defRPr>
            </a:pPr>
            <a:r>
              <a:t>2. Indic Multilingual Foundation:</a:t>
            </a:r>
          </a:p>
          <a:p>
            <a:pPr>
              <a:defRPr sz="1150">
                <a:solidFill>
                  <a:srgbClr val="E2E8F0"/>
                </a:solidFill>
              </a:defRPr>
            </a:pPr>
            <a:r>
              <a:t>   Transition backbone to MuRIL (Multilingual Representations for Indic Languages) for native Indian scripts.</a:t>
            </a:r>
          </a:p>
          <a:p>
            <a:pPr>
              <a:defRPr sz="1150">
                <a:solidFill>
                  <a:srgbClr val="E2E8F0"/>
                </a:solidFill>
              </a:defRPr>
            </a:pPr>
            <a:r>
              <a:t>3. 4-Bit Edge Quantization (QLoRA):</a:t>
            </a:r>
          </a:p>
          <a:p>
            <a:pPr>
              <a:defRPr sz="1150">
                <a:solidFill>
                  <a:srgbClr val="E2E8F0"/>
                </a:solidFill>
              </a:defRPr>
            </a:pPr>
            <a:r>
              <a:t>   Compress base model to 4-bit INT4 for sub-100MB memory footprint on mobile devices.</a:t>
            </a:r>
          </a:p>
          <a:p>
            <a:pPr>
              <a:defRPr sz="1150">
                <a:solidFill>
                  <a:srgbClr val="E2E8F0"/>
                </a:solidFill>
              </a:defRPr>
            </a:pPr>
            <a:r>
              <a:t>4. Active Learning &amp; Triage Feedback:</a:t>
            </a:r>
          </a:p>
          <a:p>
            <a:pPr>
              <a:defRPr sz="1150">
                <a:solidFill>
                  <a:srgbClr val="E2E8F0"/>
                </a:solidFill>
              </a:defRPr>
            </a:pPr>
            <a:r>
              <a:t>   Incorporate telemetry from REVIEW_REQUIRED human audit queues.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914400" y="1097280"/>
            <a:ext cx="10362895" cy="466344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371600"/>
            <a:ext cx="9448495" cy="4114800"/>
          </a:xfrm>
          <a:prstGeom prst="rect">
            <a:avLst/>
          </a:prstGeom>
          <a:noFill/>
        </p:spPr>
        <p:txBody>
          <a:bodyPr wrap="square">
            <a:spAutoFit/>
          </a:bodyPr>
          <a:lstStyle/>
          <a:p>
            <a:pPr>
              <a:defRPr sz="1400" b="1">
                <a:solidFill>
                  <a:srgbClr val="38BDF8"/>
                </a:solidFill>
              </a:defRPr>
            </a:pPr>
            <a:r>
              <a:t>RESEARCH SUMMARY &amp; DEMO READINESS</a:t>
            </a:r>
          </a:p>
          <a:p>
            <a:pPr>
              <a:defRPr sz="2600" b="1">
                <a:solidFill>
                  <a:srgbClr val="F8FAFC"/>
                </a:solidFill>
              </a:defRPr>
            </a:pPr>
            <a:r>
              <a:t>Key Contributions &amp; Viva Defense Readiness</a:t>
            </a:r>
          </a:p>
          <a:p>
            <a:pPr>
              <a:defRPr sz="1300">
                <a:solidFill>
                  <a:srgbClr val="E2E8F0"/>
                </a:solidFill>
              </a:defRPr>
            </a:pPr>
            <a:r>
              <a:t>• 1. Demonstrated that LoRA &amp; DoRA achieve competitive domain adaptation using only 0.27%–0.29% trainable parameters and 1.8MB storage.</a:t>
            </a:r>
          </a:p>
          <a:p>
            <a:pPr>
              <a:defRPr sz="1300">
                <a:solidFill>
                  <a:srgbClr val="E2E8F0"/>
                </a:solidFill>
              </a:defRPr>
            </a:pPr>
            <a:r>
              <a:t>• 2. Resolved the catastrophic false-positive failure on modern telecom reverification notifications without rule-based overrides.</a:t>
            </a:r>
          </a:p>
          <a:p>
            <a:pPr>
              <a:defRPr sz="1300">
                <a:solidFill>
                  <a:srgbClr val="E2E8F0"/>
                </a:solidFill>
              </a:defRPr>
            </a:pPr>
            <a:r>
              <a:t>• 3. Maintained complete scientific rigor: zero data leakage, transparent provenance hierarchy (N=220), and frozen validation thresholds.</a:t>
            </a:r>
          </a:p>
          <a:p>
            <a:pPr>
              <a:defRPr sz="1300">
                <a:solidFill>
                  <a:srgbClr val="E2E8F0"/>
                </a:solidFill>
              </a:defRPr>
            </a:pPr>
            <a:r>
              <a:t>• 4. Hardened end-to-end application with three-tier abstention policy and 100% pass rate across 33 automated tests.</a:t>
            </a:r>
          </a:p>
          <a:p>
            <a:br/>
            <a:pPr>
              <a:defRPr sz="1600" b="1">
                <a:solidFill>
                  <a:srgbClr val="34D399"/>
                </a:solidFill>
              </a:defRPr>
            </a:pPr>
            <a:r>
              <a:t>Thank you. We welcome questions from the examination committee.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